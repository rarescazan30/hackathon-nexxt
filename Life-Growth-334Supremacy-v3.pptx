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7" r:id="rId5"/>
    <p:sldId id="259" r:id="rId6"/>
    <p:sldId id="260" r:id="rId7"/>
    <p:sldId id="261" r:id="rId8"/>
    <p:sldId id="262" r:id="rId9"/>
    <p:sldId id="263" r:id="rId10"/>
    <p:sldId id="268"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4E6C3F4E-0A94-97D9-045D-E21C66CB0ED7}">
          <p14:sldIdLst>
            <p14:sldId id="256"/>
            <p14:sldId id="257"/>
            <p14:sldId id="258"/>
            <p14:sldId id="267"/>
            <p14:sldId id="259"/>
          </p14:sldIdLst>
        </p14:section>
        <p14:section name="Tech" id="{617EAAE4-5247-89E2-D0A8-8FEBDA14500D}">
          <p14:sldIdLst>
            <p14:sldId id="260"/>
            <p14:sldId id="261"/>
            <p14:sldId id="262"/>
            <p14:sldId id="263"/>
            <p14:sldId id="268"/>
          </p14:sldIdLst>
        </p14:section>
        <p14:section name="Trust" id="{3435E30F-9612-5657-B6D0-E66915DD2941}">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734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Salut! Suntem echipa 334Supremacy si va prezentam Life Growth: o aplicatie care iti arata cum vei trai la pensie si te ajuta sa economisesti pentru asta, cu un singur tap pe luna.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 la 30-40 de ani nimeni nu poate vizualiza pensia, asa ca nu economisesc. Pensia de stat acopera in jur de 48% din salariul net de azi, in timp ce un trai confortabil inseamna aproape 65%. Diferenta se poate acoperi doar cu economii private, de exemplu Pilonul III.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Solutia: Life Growth. In aproximativ un minut incarci un extras de pensie, raspunzi la trei intrebari si vezi o insula 3D care arata cum ai trai la pensie daca ai iesi azi. Platile cu cardul se rotunjesc intr-un contor, iar o data pe luna, cu un singur tap, banii merg in Pilonul III. Insula creste.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 exista: calculatoare de pensie ale bancilor (un numar intr-un formular), aplicatii de round-up gen Revolut (un contor care duce intr-un cont de economii) si aplicatii de economisire generice. Ce lipseste: o pensie pe care o poti vedea si o rotunjire care duce intr-un produs reglementat de pensii. Ce facem noi: o insula 3D legata de un produs real si reglementat, Pilonul III. Asta e diferentiatorul, nu doar contorul.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Numarul principal este 'zilele de libertate': cate zile de pensie acopera economiile tale private. Fiecare contributie aduce zile in plus si XP. XP-ul urca nivelurile, iar insula se imbunatateste obiect cu obiect: casa, transportul, mancarea, extra. De la cort pana la vila.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Arhitectura: o singura aplicatie Next.js cu TypeScript. Clientul este un ecran gandit pentru telefon plus scena 3D. Pe server avem server actions, motorul de reguli care face toata matematica si fluxul de bani. Serviciile externe: Supabase pentru baza de date si autentificare, Gemini sau Groq pentru AI, Stripe pentru plati in modul test.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 de aur: AI-ul nu face niciodata matematica. Toate calculele sunt functii TypeScript deterministe, cu banii in bani intregi, deci fara erori de virgula mobila. Fiecare constanta are sursa: INS, BNR, CNPP, ASF. AI-ul doar citeste PDF-uri de extras de pensie si scrie mesajul lunar prietenos. Exemplu: o cafea de 12,30 lei, platesti 15, iar 2,70 merg catre viitorul tau.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Insula 3D este construita complet in cod, cu three.js si react-three-fiber, fara fisiere de modele. Fiecare obiect e format din cateva cuburi, conuri si cilindri. Am grija de telefoane ieftine: pixel ratio mic, pauza cand nu e vizibila, iar daca WebGL lipseste apare un card 2D. Utilizatorul isi poate trimite insula printr-un link public.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Fluxul banilor: in timpul lunii, rotunjirile se aduna intr-un contor, fara sa se miste bani. La sfarsit de luna, aplicatia propune suma, iar utilizatorul apasa o data. Stripe debiteaza cardul, banii stau o luna la un partener bancar licentiat, iar dobanda de acolo este modelul nostru de business. Apoi ajung in Pilonul III. Datele cardului nu ating serverul nostru: folosim Stripe Elements.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Cine plateste: utilizatorul nu plateste nimic, dobanda de pe retinerea de o luna acopera aplicatia si se imparte cu banca partenera. Cum ajungem la utilizatori: prin parteneriat cu un administrator de pensii Pilon III (noi fiind canalul lor de marketing inregistrat) sau cu o banca. Bariere: acordul cu administratorul de pensii si statutul legal al partenerului care tine banii, adica o banca licentiata, nu noi. Raspunsul de o propozitie la intrebarea despre dobanda: banca partenera tine banii in numele utilizatorului 30 de zile, dobanda este o taxa transparenta care tine aplicatia gratuita, iar suma ajunge integral in Pilonul III.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Raspundem inainte sa intrebe juriul: banii clientilor sunt tinuti de un partener bancar licentiat, Pilonul III e supervizat de ASF, nu dam sfaturi de investitii ci scenarii, folosim date minime si fictive in demo, iar proiectiile sunt prudente si prezentate ca intervale.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Transparenta totala: in demo simulam sincronizarea cu banca, folosim Stripe in modul test si un registru pentru cumpararea de unitati. In productie, banca se conecteaza prin PSD2, partenerul bancar debiteaza contul, iar fondul de pensii executa achizitia. Logica produsului este reala.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Multumim! Life Growth face pensia vizibila si economisirea automata. Urmatorii pasi: conectarea reala la banca prin PSD2 si oferte de la parteneri la fiecare nivel nou. Suntem deschisi la intrebari.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48840"/>
            <a:ext cx="6766560" cy="1280160"/>
          </a:xfrm>
          <a:prstGeom prst="rect">
            <a:avLst/>
          </a:prstGeom>
          <a:noFill/>
          <a:ln/>
        </p:spPr>
        <p:txBody>
          <a:bodyPr wrap="square" rtlCol="0"/>
          <a:lstStyle>
            <a:lvl1pPr marL="0" indent="0" algn="l">
              <a:buNone/>
              <a:defRPr lang="en-US" sz="7200" b="1" dirty="0">
                <a:solidFill>
                  <a:schemeClr val="bg1"/>
                </a:solidFill>
              </a:defRPr>
            </a:lvl1pPr>
          </a:lstStyle>
          <a:p>
            <a:pPr marL="0" indent="0" algn="l">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21792"/>
            <a:ext cx="11091672"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lgn="l">
              <a:buNone/>
            </a:pPr>
            <a:r>
              <a:rPr lang="en-US" sz="1000" dirty="0">
                <a:solidFill>
                  <a:schemeClr val="accent2"/>
                </a:solidFill>
              </a:rPr>
              <a:t>Life Growth  ·  334Supremacy</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6766560" cy="128016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19.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2.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6.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1691640"/>
            <a:ext cx="68580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NEXXT HACKATHON  ·  RETHINKING FINANCIAL FUTURES</a:t>
            </a:r>
            <a:endParaRPr lang="en-US" sz="1200" dirty="0"/>
          </a:p>
        </p:txBody>
      </p:sp>
      <p:sp>
        <p:nvSpPr>
          <p:cNvPr id="3" name="Text 0"/>
          <p:cNvSpPr>
            <a:spLocks noGrp="1"/>
          </p:cNvSpPr>
          <p:nvPr>
            <p:ph type="title" idx="100" hasCustomPrompt="1"/>
          </p:nvPr>
        </p:nvSpPr>
        <p:spPr>
          <a:xfrm>
            <a:off x="731520" y="2148840"/>
            <a:ext cx="6766560" cy="1280160"/>
          </a:xfrm>
          <a:prstGeom prst="rect">
            <a:avLst/>
          </a:prstGeom>
          <a:noFill/>
          <a:ln/>
        </p:spPr>
        <p:txBody>
          <a:bodyPr wrap="square" lIns="0" tIns="0" rIns="0" bIns="0" rtlCol="0" anchor="t"/>
          <a:lstStyle/>
          <a:p>
            <a:pPr marL="0" indent="0" algn="l">
              <a:buNone/>
            </a:pPr>
            <a:r>
              <a:rPr lang="en-US" sz="7200" b="1" dirty="0">
                <a:solidFill>
                  <a:schemeClr val="bg1"/>
                </a:solidFill>
              </a:rPr>
              <a:t>Life Growth</a:t>
            </a:r>
            <a:endParaRPr lang="en-US" sz="7200" dirty="0"/>
          </a:p>
        </p:txBody>
      </p:sp>
      <p:sp>
        <p:nvSpPr>
          <p:cNvPr id="4" name="text-2"/>
          <p:cNvSpPr txBox="1"/>
          <p:nvPr/>
        </p:nvSpPr>
        <p:spPr>
          <a:xfrm>
            <a:off x="731520" y="3429000"/>
            <a:ext cx="6035040" cy="914400"/>
          </a:xfrm>
          <a:prstGeom prst="rect">
            <a:avLst/>
          </a:prstGeom>
          <a:noFill/>
          <a:ln/>
        </p:spPr>
        <p:txBody>
          <a:bodyPr wrap="square" lIns="0" tIns="0" rIns="0" bIns="0" rtlCol="0" anchor="t"/>
          <a:lstStyle/>
          <a:p>
            <a:pPr marL="0" indent="0">
              <a:buNone/>
            </a:pPr>
            <a:r>
              <a:rPr lang="en-US" sz="2200" dirty="0">
                <a:solidFill>
                  <a:schemeClr val="accent2"/>
                </a:solidFill>
              </a:rPr>
              <a:t>See how you'll live in retirement, then grow it one tap at a time.</a:t>
            </a:r>
            <a:endParaRPr lang="en-US" sz="2200" dirty="0"/>
          </a:p>
        </p:txBody>
      </p:sp>
      <p:sp>
        <p:nvSpPr>
          <p:cNvPr id="5" name="team-pill-3"/>
          <p:cNvSpPr/>
          <p:nvPr/>
        </p:nvSpPr>
        <p:spPr>
          <a:xfrm>
            <a:off x="731520" y="4800600"/>
            <a:ext cx="3246120" cy="566928"/>
          </a:xfrm>
          <a:prstGeom prst="roundRect">
            <a:avLst>
              <a:gd name="adj" fmla="val 50000"/>
            </a:avLst>
          </a:prstGeom>
          <a:solidFill>
            <a:schemeClr val="accent1"/>
          </a:solidFill>
          <a:ln w="12700">
            <a:solidFill>
              <a:schemeClr val="accent1"/>
            </a:solidFill>
            <a:prstDash val="solid"/>
          </a:ln>
        </p:spPr>
        <p:txBody>
          <a:bodyPr/>
          <a:lstStyle/>
          <a:p>
            <a:endParaRPr lang="ro-RO"/>
          </a:p>
        </p:txBody>
      </p:sp>
      <p:sp>
        <p:nvSpPr>
          <p:cNvPr id="6" name="text-4"/>
          <p:cNvSpPr txBox="1"/>
          <p:nvPr/>
        </p:nvSpPr>
        <p:spPr>
          <a:xfrm>
            <a:off x="731520" y="4800600"/>
            <a:ext cx="3246120" cy="566928"/>
          </a:xfrm>
          <a:prstGeom prst="rect">
            <a:avLst/>
          </a:prstGeom>
          <a:noFill/>
          <a:ln/>
        </p:spPr>
        <p:txBody>
          <a:bodyPr wrap="square" lIns="0" tIns="0" rIns="0" bIns="0" rtlCol="0" anchor="ctr"/>
          <a:lstStyle/>
          <a:p>
            <a:pPr marL="0" indent="0" algn="ctr">
              <a:buNone/>
            </a:pPr>
            <a:r>
              <a:rPr lang="en-US" sz="2000" b="1" dirty="0">
                <a:solidFill>
                  <a:schemeClr val="bg1"/>
                </a:solidFill>
              </a:rPr>
              <a:t>Team 334Supremacy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5"/>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THE PROBLEM</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Retirement is too abstract to save for</a:t>
            </a:r>
            <a:endParaRPr lang="en-US" sz="3600" dirty="0"/>
          </a:p>
        </p:txBody>
      </p:sp>
      <p:sp>
        <p:nvSpPr>
          <p:cNvPr id="4" name="icon-circle-6"/>
          <p:cNvSpPr/>
          <p:nvPr/>
        </p:nvSpPr>
        <p:spPr>
          <a:xfrm>
            <a:off x="548640" y="1828800"/>
            <a:ext cx="777240" cy="777240"/>
          </a:xfrm>
          <a:prstGeom prst="ellipse">
            <a:avLst/>
          </a:prstGeom>
          <a:solidFill>
            <a:schemeClr val="accent3"/>
          </a:solidFill>
          <a:ln w="12700">
            <a:solidFill>
              <a:schemeClr val="accent3"/>
            </a:solidFill>
            <a:prstDash val="solid"/>
          </a:ln>
        </p:spPr>
        <p:txBody>
          <a:bodyPr/>
          <a:lstStyle/>
          <a:p>
            <a:endParaRPr lang="ro-RO"/>
          </a:p>
        </p:txBody>
      </p:sp>
      <p:pic>
        <p:nvPicPr>
          <p:cNvPr id="5" name="icon-7" descr="EyeSlash icon"/>
          <p:cNvPicPr>
            <a:picLocks noChangeAspect="1"/>
          </p:cNvPicPr>
          <p:nvPr/>
        </p:nvPicPr>
        <p:blipFill>
          <a:blip r:embed="rId3"/>
          <a:stretch>
            <a:fillRect/>
          </a:stretch>
        </p:blipFill>
        <p:spPr>
          <a:xfrm>
            <a:off x="758495" y="2038655"/>
            <a:ext cx="357530" cy="357530"/>
          </a:xfrm>
          <a:prstGeom prst="rect">
            <a:avLst/>
          </a:prstGeom>
        </p:spPr>
      </p:pic>
      <p:sp>
        <p:nvSpPr>
          <p:cNvPr id="6" name="text-8"/>
          <p:cNvSpPr txBox="1"/>
          <p:nvPr/>
        </p:nvSpPr>
        <p:spPr>
          <a:xfrm>
            <a:off x="1600200" y="1783080"/>
            <a:ext cx="4480560" cy="411480"/>
          </a:xfrm>
          <a:prstGeom prst="rect">
            <a:avLst/>
          </a:prstGeom>
          <a:noFill/>
          <a:ln/>
        </p:spPr>
        <p:txBody>
          <a:bodyPr wrap="square" lIns="0" tIns="0" rIns="0" bIns="0" rtlCol="0" anchor="t"/>
          <a:lstStyle/>
          <a:p>
            <a:pPr marL="0" indent="0">
              <a:buNone/>
            </a:pPr>
            <a:r>
              <a:rPr lang="en-US" sz="2100" b="1" dirty="0">
                <a:solidFill>
                  <a:schemeClr val="bg1"/>
                </a:solidFill>
              </a:rPr>
              <a:t>Nobody can picture it</a:t>
            </a:r>
            <a:endParaRPr lang="en-US" sz="2100" dirty="0"/>
          </a:p>
        </p:txBody>
      </p:sp>
      <p:sp>
        <p:nvSpPr>
          <p:cNvPr id="7" name="text-9"/>
          <p:cNvSpPr txBox="1"/>
          <p:nvPr/>
        </p:nvSpPr>
        <p:spPr>
          <a:xfrm>
            <a:off x="1600200" y="2240280"/>
            <a:ext cx="4480560" cy="777240"/>
          </a:xfrm>
          <a:prstGeom prst="rect">
            <a:avLst/>
          </a:prstGeom>
          <a:noFill/>
          <a:ln/>
        </p:spPr>
        <p:txBody>
          <a:bodyPr wrap="square" lIns="0" tIns="0" rIns="0" bIns="0" rtlCol="0" anchor="t"/>
          <a:lstStyle/>
          <a:p>
            <a:pPr marL="0" indent="0">
              <a:buNone/>
            </a:pPr>
            <a:r>
              <a:rPr lang="en-US" sz="1500" dirty="0">
                <a:solidFill>
                  <a:schemeClr val="accent2"/>
                </a:solidFill>
              </a:rPr>
              <a:t>Life at 65 feels like a different planet, so it never makes the to-do list.</a:t>
            </a:r>
            <a:endParaRPr lang="en-US" sz="1500" dirty="0"/>
          </a:p>
        </p:txBody>
      </p:sp>
      <p:sp>
        <p:nvSpPr>
          <p:cNvPr id="8" name="icon-circle-10"/>
          <p:cNvSpPr/>
          <p:nvPr/>
        </p:nvSpPr>
        <p:spPr>
          <a:xfrm>
            <a:off x="548640" y="3200400"/>
            <a:ext cx="777240" cy="777240"/>
          </a:xfrm>
          <a:prstGeom prst="ellipse">
            <a:avLst/>
          </a:prstGeom>
          <a:solidFill>
            <a:schemeClr val="accent3"/>
          </a:solidFill>
          <a:ln w="12700">
            <a:solidFill>
              <a:schemeClr val="accent3"/>
            </a:solidFill>
            <a:prstDash val="solid"/>
          </a:ln>
        </p:spPr>
        <p:txBody>
          <a:bodyPr/>
          <a:lstStyle/>
          <a:p>
            <a:endParaRPr lang="ro-RO"/>
          </a:p>
        </p:txBody>
      </p:sp>
      <p:pic>
        <p:nvPicPr>
          <p:cNvPr id="9" name="icon-11" descr="ChartLine icon"/>
          <p:cNvPicPr>
            <a:picLocks noChangeAspect="1"/>
          </p:cNvPicPr>
          <p:nvPr/>
        </p:nvPicPr>
        <p:blipFill>
          <a:blip r:embed="rId4"/>
          <a:stretch>
            <a:fillRect/>
          </a:stretch>
        </p:blipFill>
        <p:spPr>
          <a:xfrm>
            <a:off x="758495" y="3410255"/>
            <a:ext cx="357530" cy="357530"/>
          </a:xfrm>
          <a:prstGeom prst="rect">
            <a:avLst/>
          </a:prstGeom>
        </p:spPr>
      </p:pic>
      <p:sp>
        <p:nvSpPr>
          <p:cNvPr id="10" name="text-12"/>
          <p:cNvSpPr txBox="1"/>
          <p:nvPr/>
        </p:nvSpPr>
        <p:spPr>
          <a:xfrm>
            <a:off x="1600200" y="3154680"/>
            <a:ext cx="4480560" cy="411480"/>
          </a:xfrm>
          <a:prstGeom prst="rect">
            <a:avLst/>
          </a:prstGeom>
          <a:noFill/>
          <a:ln/>
        </p:spPr>
        <p:txBody>
          <a:bodyPr wrap="square" lIns="0" tIns="0" rIns="0" bIns="0" rtlCol="0" anchor="t"/>
          <a:lstStyle/>
          <a:p>
            <a:pPr marL="0" indent="0">
              <a:buNone/>
            </a:pPr>
            <a:r>
              <a:rPr lang="en-US" sz="2100" b="1" dirty="0">
                <a:solidFill>
                  <a:schemeClr val="bg1"/>
                </a:solidFill>
              </a:rPr>
              <a:t>The gap is invisible</a:t>
            </a:r>
            <a:endParaRPr lang="en-US" sz="2100" dirty="0"/>
          </a:p>
        </p:txBody>
      </p:sp>
      <p:sp>
        <p:nvSpPr>
          <p:cNvPr id="11" name="text-13"/>
          <p:cNvSpPr txBox="1"/>
          <p:nvPr/>
        </p:nvSpPr>
        <p:spPr>
          <a:xfrm>
            <a:off x="1600200" y="3611880"/>
            <a:ext cx="4480560" cy="777240"/>
          </a:xfrm>
          <a:prstGeom prst="rect">
            <a:avLst/>
          </a:prstGeom>
          <a:noFill/>
          <a:ln/>
        </p:spPr>
        <p:txBody>
          <a:bodyPr wrap="square" lIns="0" tIns="0" rIns="0" bIns="0" rtlCol="0" anchor="t"/>
          <a:lstStyle/>
          <a:p>
            <a:pPr marL="0" indent="0">
              <a:buNone/>
            </a:pPr>
            <a:r>
              <a:rPr lang="en-US" sz="1500" dirty="0">
                <a:solidFill>
                  <a:schemeClr val="accent2"/>
                </a:solidFill>
              </a:rPr>
              <a:t>The state pension covers less than half of today's salary, and no one sees that coming.</a:t>
            </a:r>
            <a:endParaRPr lang="en-US" sz="1500" dirty="0"/>
          </a:p>
        </p:txBody>
      </p:sp>
      <p:sp>
        <p:nvSpPr>
          <p:cNvPr id="12" name="icon-circle-14"/>
          <p:cNvSpPr/>
          <p:nvPr/>
        </p:nvSpPr>
        <p:spPr>
          <a:xfrm>
            <a:off x="548640" y="4572000"/>
            <a:ext cx="777240" cy="777240"/>
          </a:xfrm>
          <a:prstGeom prst="ellipse">
            <a:avLst/>
          </a:prstGeom>
          <a:solidFill>
            <a:schemeClr val="accent3"/>
          </a:solidFill>
          <a:ln w="12700">
            <a:solidFill>
              <a:schemeClr val="accent3"/>
            </a:solidFill>
            <a:prstDash val="solid"/>
          </a:ln>
        </p:spPr>
        <p:txBody>
          <a:bodyPr/>
          <a:lstStyle/>
          <a:p>
            <a:endParaRPr lang="ro-RO"/>
          </a:p>
        </p:txBody>
      </p:sp>
      <p:pic>
        <p:nvPicPr>
          <p:cNvPr id="13" name="icon-15" descr="HourglassHalf icon"/>
          <p:cNvPicPr>
            <a:picLocks noChangeAspect="1"/>
          </p:cNvPicPr>
          <p:nvPr/>
        </p:nvPicPr>
        <p:blipFill>
          <a:blip r:embed="rId5"/>
          <a:stretch>
            <a:fillRect/>
          </a:stretch>
        </p:blipFill>
        <p:spPr>
          <a:xfrm>
            <a:off x="758495" y="4781855"/>
            <a:ext cx="357530" cy="357530"/>
          </a:xfrm>
          <a:prstGeom prst="rect">
            <a:avLst/>
          </a:prstGeom>
        </p:spPr>
      </p:pic>
      <p:sp>
        <p:nvSpPr>
          <p:cNvPr id="14" name="text-16"/>
          <p:cNvSpPr txBox="1"/>
          <p:nvPr/>
        </p:nvSpPr>
        <p:spPr>
          <a:xfrm>
            <a:off x="1600200" y="4526280"/>
            <a:ext cx="4480560" cy="411480"/>
          </a:xfrm>
          <a:prstGeom prst="rect">
            <a:avLst/>
          </a:prstGeom>
          <a:noFill/>
          <a:ln/>
        </p:spPr>
        <p:txBody>
          <a:bodyPr wrap="square" lIns="0" tIns="0" rIns="0" bIns="0" rtlCol="0" anchor="t"/>
          <a:lstStyle/>
          <a:p>
            <a:pPr marL="0" indent="0">
              <a:buNone/>
            </a:pPr>
            <a:r>
              <a:rPr lang="en-US" sz="2100" b="1" dirty="0">
                <a:solidFill>
                  <a:schemeClr val="bg1"/>
                </a:solidFill>
              </a:rPr>
              <a:t>Saving feels like a chore</a:t>
            </a:r>
            <a:endParaRPr lang="en-US" sz="2100" dirty="0"/>
          </a:p>
        </p:txBody>
      </p:sp>
      <p:sp>
        <p:nvSpPr>
          <p:cNvPr id="15" name="text-17"/>
          <p:cNvSpPr txBox="1"/>
          <p:nvPr/>
        </p:nvSpPr>
        <p:spPr>
          <a:xfrm>
            <a:off x="1600200" y="4983480"/>
            <a:ext cx="4480560" cy="777240"/>
          </a:xfrm>
          <a:prstGeom prst="rect">
            <a:avLst/>
          </a:prstGeom>
          <a:noFill/>
          <a:ln/>
        </p:spPr>
        <p:txBody>
          <a:bodyPr wrap="square" lIns="0" tIns="0" rIns="0" bIns="0" rtlCol="0" anchor="t"/>
          <a:lstStyle/>
          <a:p>
            <a:pPr marL="0" indent="0">
              <a:buNone/>
            </a:pPr>
            <a:r>
              <a:rPr lang="en-US" sz="1500" dirty="0">
                <a:solidFill>
                  <a:schemeClr val="accent2"/>
                </a:solidFill>
              </a:rPr>
              <a:t>Pillar III is tax-friendly and regulated, yet most people in their 30s skip it.</a:t>
            </a:r>
            <a:endParaRPr lang="en-US" sz="1500" dirty="0"/>
          </a:p>
        </p:txBody>
      </p:sp>
      <p:sp>
        <p:nvSpPr>
          <p:cNvPr id="16" name="card-18"/>
          <p:cNvSpPr/>
          <p:nvPr/>
        </p:nvSpPr>
        <p:spPr>
          <a:xfrm>
            <a:off x="6675120" y="1783080"/>
            <a:ext cx="4965192" cy="4206240"/>
          </a:xfrm>
          <a:prstGeom prst="roundRect">
            <a:avLst>
              <a:gd name="adj" fmla="val 3478"/>
            </a:avLst>
          </a:prstGeom>
          <a:solidFill>
            <a:schemeClr val="tx2"/>
          </a:solidFill>
          <a:ln w="12700">
            <a:solidFill>
              <a:schemeClr val="accent4"/>
            </a:solidFill>
            <a:prstDash val="solid"/>
          </a:ln>
        </p:spPr>
        <p:txBody>
          <a:bodyPr/>
          <a:lstStyle/>
          <a:p>
            <a:endParaRPr lang="ro-RO"/>
          </a:p>
        </p:txBody>
      </p:sp>
      <p:sp>
        <p:nvSpPr>
          <p:cNvPr id="17" name="text-19"/>
          <p:cNvSpPr txBox="1"/>
          <p:nvPr/>
        </p:nvSpPr>
        <p:spPr>
          <a:xfrm>
            <a:off x="7040880" y="2057400"/>
            <a:ext cx="4297680" cy="274320"/>
          </a:xfrm>
          <a:prstGeom prst="rect">
            <a:avLst/>
          </a:prstGeom>
          <a:noFill/>
          <a:ln/>
        </p:spPr>
        <p:txBody>
          <a:bodyPr wrap="square" lIns="0" tIns="0" rIns="0" bIns="0" rtlCol="0" anchor="ctr"/>
          <a:lstStyle/>
          <a:p>
            <a:pPr marL="0" indent="0">
              <a:buNone/>
            </a:pPr>
            <a:r>
              <a:rPr lang="en-US" sz="1100" b="1" kern="0" spc="200" dirty="0">
                <a:solidFill>
                  <a:schemeClr val="accent2"/>
                </a:solidFill>
              </a:rPr>
              <a:t>RETIREMENT INCOME VS. TODAY'S NET SALARY</a:t>
            </a:r>
            <a:endParaRPr lang="en-US" sz="1100" dirty="0"/>
          </a:p>
        </p:txBody>
      </p:sp>
      <p:sp>
        <p:nvSpPr>
          <p:cNvPr id="18" name="text-20"/>
          <p:cNvSpPr txBox="1"/>
          <p:nvPr/>
        </p:nvSpPr>
        <p:spPr>
          <a:xfrm>
            <a:off x="7040880" y="2606040"/>
            <a:ext cx="3657600" cy="320040"/>
          </a:xfrm>
          <a:prstGeom prst="rect">
            <a:avLst/>
          </a:prstGeom>
          <a:noFill/>
          <a:ln/>
        </p:spPr>
        <p:txBody>
          <a:bodyPr wrap="square" lIns="0" tIns="0" rIns="0" bIns="0" rtlCol="0" anchor="ctr"/>
          <a:lstStyle/>
          <a:p>
            <a:pPr marL="0" indent="0">
              <a:buNone/>
            </a:pPr>
            <a:r>
              <a:rPr lang="en-US" sz="1600" b="1" dirty="0">
                <a:solidFill>
                  <a:schemeClr val="bg1"/>
                </a:solidFill>
              </a:rPr>
              <a:t>State pension</a:t>
            </a:r>
            <a:endParaRPr lang="en-US" sz="1600" dirty="0"/>
          </a:p>
        </p:txBody>
      </p:sp>
      <p:sp>
        <p:nvSpPr>
          <p:cNvPr id="19" name="bar-pension-21"/>
          <p:cNvSpPr/>
          <p:nvPr/>
        </p:nvSpPr>
        <p:spPr>
          <a:xfrm>
            <a:off x="7040880" y="2971800"/>
            <a:ext cx="3038622" cy="566928"/>
          </a:xfrm>
          <a:prstGeom prst="roundRect">
            <a:avLst>
              <a:gd name="adj" fmla="val 16129"/>
            </a:avLst>
          </a:prstGeom>
          <a:solidFill>
            <a:schemeClr val="accent5"/>
          </a:solidFill>
          <a:ln w="12700">
            <a:solidFill>
              <a:schemeClr val="accent5"/>
            </a:solidFill>
            <a:prstDash val="solid"/>
          </a:ln>
        </p:spPr>
        <p:txBody>
          <a:bodyPr/>
          <a:lstStyle/>
          <a:p>
            <a:endParaRPr lang="ro-RO"/>
          </a:p>
        </p:txBody>
      </p:sp>
      <p:sp>
        <p:nvSpPr>
          <p:cNvPr id="20" name="text-22"/>
          <p:cNvSpPr txBox="1"/>
          <p:nvPr/>
        </p:nvSpPr>
        <p:spPr>
          <a:xfrm>
            <a:off x="7040880" y="2971800"/>
            <a:ext cx="2855742" cy="566928"/>
          </a:xfrm>
          <a:prstGeom prst="rect">
            <a:avLst/>
          </a:prstGeom>
          <a:noFill/>
          <a:ln/>
        </p:spPr>
        <p:txBody>
          <a:bodyPr wrap="square" lIns="0" tIns="0" rIns="0" bIns="0" rtlCol="0" anchor="ctr"/>
          <a:lstStyle/>
          <a:p>
            <a:pPr marL="0" indent="0" algn="r">
              <a:buNone/>
            </a:pPr>
            <a:r>
              <a:rPr lang="en-US" sz="2200" b="1" dirty="0">
                <a:solidFill>
                  <a:schemeClr val="tx1"/>
                </a:solidFill>
              </a:rPr>
              <a:t>48%</a:t>
            </a:r>
            <a:endParaRPr lang="en-US" sz="2200" dirty="0"/>
          </a:p>
        </p:txBody>
      </p:sp>
      <p:sp>
        <p:nvSpPr>
          <p:cNvPr id="21" name="bar-gap-23"/>
          <p:cNvSpPr/>
          <p:nvPr/>
        </p:nvSpPr>
        <p:spPr>
          <a:xfrm>
            <a:off x="10125222" y="2971800"/>
            <a:ext cx="1030458" cy="566928"/>
          </a:xfrm>
          <a:prstGeom prst="roundRect">
            <a:avLst>
              <a:gd name="adj" fmla="val 16129"/>
            </a:avLst>
          </a:prstGeom>
          <a:solidFill>
            <a:schemeClr val="tx2"/>
          </a:solidFill>
          <a:ln w="19050">
            <a:solidFill>
              <a:schemeClr val="accent2"/>
            </a:solidFill>
            <a:prstDash val="dash"/>
          </a:ln>
        </p:spPr>
        <p:txBody>
          <a:bodyPr/>
          <a:lstStyle/>
          <a:p>
            <a:endParaRPr lang="ro-RO"/>
          </a:p>
        </p:txBody>
      </p:sp>
      <p:sp>
        <p:nvSpPr>
          <p:cNvPr id="22" name="text-24"/>
          <p:cNvSpPr txBox="1"/>
          <p:nvPr/>
        </p:nvSpPr>
        <p:spPr>
          <a:xfrm>
            <a:off x="10125222" y="2971800"/>
            <a:ext cx="1030458" cy="566928"/>
          </a:xfrm>
          <a:prstGeom prst="rect">
            <a:avLst/>
          </a:prstGeom>
          <a:noFill/>
          <a:ln/>
        </p:spPr>
        <p:txBody>
          <a:bodyPr wrap="square" lIns="0" tIns="0" rIns="0" bIns="0" rtlCol="0" anchor="ctr"/>
          <a:lstStyle/>
          <a:p>
            <a:pPr marL="0" indent="0" algn="ctr">
              <a:buNone/>
            </a:pPr>
            <a:r>
              <a:rPr lang="en-US" sz="1400" b="1" dirty="0">
                <a:solidFill>
                  <a:schemeClr val="accent2"/>
                </a:solidFill>
              </a:rPr>
              <a:t>gap</a:t>
            </a:r>
            <a:endParaRPr lang="en-US" sz="1400" dirty="0"/>
          </a:p>
        </p:txBody>
      </p:sp>
      <p:sp>
        <p:nvSpPr>
          <p:cNvPr id="23" name="text-25"/>
          <p:cNvSpPr txBox="1"/>
          <p:nvPr/>
        </p:nvSpPr>
        <p:spPr>
          <a:xfrm>
            <a:off x="7040880" y="3840480"/>
            <a:ext cx="3657600" cy="320040"/>
          </a:xfrm>
          <a:prstGeom prst="rect">
            <a:avLst/>
          </a:prstGeom>
          <a:noFill/>
          <a:ln/>
        </p:spPr>
        <p:txBody>
          <a:bodyPr wrap="square" lIns="0" tIns="0" rIns="0" bIns="0" rtlCol="0" anchor="ctr"/>
          <a:lstStyle/>
          <a:p>
            <a:pPr marL="0" indent="0">
              <a:buNone/>
            </a:pPr>
            <a:r>
              <a:rPr lang="en-US" sz="1600" b="1" dirty="0">
                <a:solidFill>
                  <a:schemeClr val="bg1"/>
                </a:solidFill>
              </a:rPr>
              <a:t>A comfortable life</a:t>
            </a:r>
            <a:endParaRPr lang="en-US" sz="1600" dirty="0"/>
          </a:p>
        </p:txBody>
      </p:sp>
      <p:sp>
        <p:nvSpPr>
          <p:cNvPr id="24" name="bar-comfort-26"/>
          <p:cNvSpPr/>
          <p:nvPr/>
        </p:nvSpPr>
        <p:spPr>
          <a:xfrm>
            <a:off x="7040880" y="4206240"/>
            <a:ext cx="4114800" cy="566928"/>
          </a:xfrm>
          <a:prstGeom prst="roundRect">
            <a:avLst>
              <a:gd name="adj" fmla="val 16129"/>
            </a:avLst>
          </a:prstGeom>
          <a:solidFill>
            <a:schemeClr val="accent1"/>
          </a:solidFill>
          <a:ln w="12700">
            <a:solidFill>
              <a:schemeClr val="accent1"/>
            </a:solidFill>
            <a:prstDash val="solid"/>
          </a:ln>
        </p:spPr>
        <p:txBody>
          <a:bodyPr/>
          <a:lstStyle/>
          <a:p>
            <a:endParaRPr lang="ro-RO"/>
          </a:p>
        </p:txBody>
      </p:sp>
      <p:sp>
        <p:nvSpPr>
          <p:cNvPr id="25" name="text-27"/>
          <p:cNvSpPr txBox="1"/>
          <p:nvPr/>
        </p:nvSpPr>
        <p:spPr>
          <a:xfrm>
            <a:off x="7040880" y="4206240"/>
            <a:ext cx="3931920" cy="566928"/>
          </a:xfrm>
          <a:prstGeom prst="rect">
            <a:avLst/>
          </a:prstGeom>
          <a:noFill/>
          <a:ln/>
        </p:spPr>
        <p:txBody>
          <a:bodyPr wrap="square" lIns="0" tIns="0" rIns="0" bIns="0" rtlCol="0" anchor="ctr"/>
          <a:lstStyle/>
          <a:p>
            <a:pPr marL="0" indent="0" algn="r">
              <a:buNone/>
            </a:pPr>
            <a:r>
              <a:rPr lang="en-US" sz="2200" b="1" dirty="0">
                <a:solidFill>
                  <a:schemeClr val="bg1"/>
                </a:solidFill>
              </a:rPr>
              <a:t>65%</a:t>
            </a:r>
            <a:endParaRPr lang="en-US" sz="2200" dirty="0"/>
          </a:p>
        </p:txBody>
      </p:sp>
      <p:sp>
        <p:nvSpPr>
          <p:cNvPr id="26" name="text-28"/>
          <p:cNvSpPr txBox="1"/>
          <p:nvPr/>
        </p:nvSpPr>
        <p:spPr>
          <a:xfrm>
            <a:off x="7040880" y="5074920"/>
            <a:ext cx="4297680" cy="365760"/>
          </a:xfrm>
          <a:prstGeom prst="rect">
            <a:avLst/>
          </a:prstGeom>
          <a:noFill/>
          <a:ln/>
        </p:spPr>
        <p:txBody>
          <a:bodyPr wrap="square" lIns="0" tIns="0" rIns="0" bIns="0" rtlCol="0" anchor="t"/>
          <a:lstStyle/>
          <a:p>
            <a:pPr marL="0" indent="0">
              <a:buNone/>
            </a:pPr>
            <a:r>
              <a:rPr lang="en-US" sz="1600" b="1" dirty="0">
                <a:solidFill>
                  <a:schemeClr val="bg1"/>
                </a:solidFill>
              </a:rPr>
              <a:t>Only voluntary savings can close it.</a:t>
            </a:r>
            <a:endParaRPr lang="en-US" sz="1600" dirty="0"/>
          </a:p>
        </p:txBody>
      </p:sp>
      <p:sp>
        <p:nvSpPr>
          <p:cNvPr id="28"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30"/>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THE SOLUTION</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Life Growth: see it, then grow it</a:t>
            </a:r>
            <a:endParaRPr lang="en-US" sz="3600" dirty="0"/>
          </a:p>
        </p:txBody>
      </p:sp>
      <p:sp>
        <p:nvSpPr>
          <p:cNvPr id="4" name="text-31"/>
          <p:cNvSpPr txBox="1"/>
          <p:nvPr/>
        </p:nvSpPr>
        <p:spPr>
          <a:xfrm>
            <a:off x="548640" y="1508760"/>
            <a:ext cx="10515600" cy="548640"/>
          </a:xfrm>
          <a:prstGeom prst="rect">
            <a:avLst/>
          </a:prstGeom>
          <a:noFill/>
          <a:ln/>
        </p:spPr>
        <p:txBody>
          <a:bodyPr wrap="square" lIns="0" tIns="0" rIns="0" bIns="0" rtlCol="0" anchor="t"/>
          <a:lstStyle/>
          <a:p>
            <a:pPr marL="0" indent="0">
              <a:buNone/>
            </a:pPr>
            <a:r>
              <a:rPr lang="en-US" sz="1800" dirty="0">
                <a:solidFill>
                  <a:schemeClr val="accent2"/>
                </a:solidFill>
              </a:rPr>
              <a:t>A small low-poly island shows how you'd live if you retired today. Every contribution upgrades it.</a:t>
            </a:r>
            <a:endParaRPr lang="en-US" sz="1800" dirty="0"/>
          </a:p>
        </p:txBody>
      </p:sp>
      <p:sp>
        <p:nvSpPr>
          <p:cNvPr id="5" name="card-32"/>
          <p:cNvSpPr/>
          <p:nvPr/>
        </p:nvSpPr>
        <p:spPr>
          <a:xfrm>
            <a:off x="548640" y="2377440"/>
            <a:ext cx="2560320" cy="3017520"/>
          </a:xfrm>
          <a:prstGeom prst="roundRect">
            <a:avLst>
              <a:gd name="adj" fmla="val 5714"/>
            </a:avLst>
          </a:prstGeom>
          <a:solidFill>
            <a:schemeClr val="tx2"/>
          </a:solidFill>
          <a:ln w="12700">
            <a:solidFill>
              <a:schemeClr val="accent4"/>
            </a:solidFill>
            <a:prstDash val="solid"/>
          </a:ln>
        </p:spPr>
        <p:txBody>
          <a:bodyPr/>
          <a:lstStyle/>
          <a:p>
            <a:endParaRPr lang="ro-RO"/>
          </a:p>
        </p:txBody>
      </p:sp>
      <p:sp>
        <p:nvSpPr>
          <p:cNvPr id="6" name="icon-circle-33"/>
          <p:cNvSpPr/>
          <p:nvPr/>
        </p:nvSpPr>
        <p:spPr>
          <a:xfrm>
            <a:off x="822960" y="2651760"/>
            <a:ext cx="777240" cy="777240"/>
          </a:xfrm>
          <a:prstGeom prst="ellipse">
            <a:avLst/>
          </a:prstGeom>
          <a:solidFill>
            <a:schemeClr val="accent3"/>
          </a:solidFill>
          <a:ln w="12700">
            <a:solidFill>
              <a:schemeClr val="accent3"/>
            </a:solidFill>
            <a:prstDash val="solid"/>
          </a:ln>
        </p:spPr>
        <p:txBody>
          <a:bodyPr/>
          <a:lstStyle/>
          <a:p>
            <a:endParaRPr lang="ro-RO"/>
          </a:p>
        </p:txBody>
      </p:sp>
      <p:pic>
        <p:nvPicPr>
          <p:cNvPr id="7" name="icon-34" descr="CloudUploadAlt icon"/>
          <p:cNvPicPr>
            <a:picLocks noChangeAspect="1"/>
          </p:cNvPicPr>
          <p:nvPr/>
        </p:nvPicPr>
        <p:blipFill>
          <a:blip r:embed="rId3"/>
          <a:stretch>
            <a:fillRect/>
          </a:stretch>
        </p:blipFill>
        <p:spPr>
          <a:xfrm>
            <a:off x="1032815" y="2861615"/>
            <a:ext cx="357530" cy="357530"/>
          </a:xfrm>
          <a:prstGeom prst="rect">
            <a:avLst/>
          </a:prstGeom>
        </p:spPr>
      </p:pic>
      <p:sp>
        <p:nvSpPr>
          <p:cNvPr id="8" name="text-35"/>
          <p:cNvSpPr txBox="1"/>
          <p:nvPr/>
        </p:nvSpPr>
        <p:spPr>
          <a:xfrm>
            <a:off x="2240280" y="2697480"/>
            <a:ext cx="594360" cy="365760"/>
          </a:xfrm>
          <a:prstGeom prst="rect">
            <a:avLst/>
          </a:prstGeom>
          <a:noFill/>
          <a:ln/>
        </p:spPr>
        <p:txBody>
          <a:bodyPr wrap="square" lIns="0" tIns="0" rIns="0" bIns="0" rtlCol="0" anchor="ctr"/>
          <a:lstStyle/>
          <a:p>
            <a:pPr marL="0" indent="0" algn="r">
              <a:buNone/>
            </a:pPr>
            <a:r>
              <a:rPr lang="en-US" sz="1800" b="1" dirty="0">
                <a:solidFill>
                  <a:schemeClr val="accent5"/>
                </a:solidFill>
              </a:rPr>
              <a:t>01</a:t>
            </a:r>
            <a:endParaRPr lang="en-US" sz="1800" dirty="0"/>
          </a:p>
        </p:txBody>
      </p:sp>
      <p:sp>
        <p:nvSpPr>
          <p:cNvPr id="9" name="text-36"/>
          <p:cNvSpPr txBox="1"/>
          <p:nvPr/>
        </p:nvSpPr>
        <p:spPr>
          <a:xfrm>
            <a:off x="822960" y="3657600"/>
            <a:ext cx="2011680" cy="411480"/>
          </a:xfrm>
          <a:prstGeom prst="rect">
            <a:avLst/>
          </a:prstGeom>
          <a:noFill/>
          <a:ln/>
        </p:spPr>
        <p:txBody>
          <a:bodyPr wrap="square" lIns="0" tIns="0" rIns="0" bIns="0" rtlCol="0" anchor="t"/>
          <a:lstStyle/>
          <a:p>
            <a:pPr marL="0" indent="0">
              <a:buNone/>
            </a:pPr>
            <a:r>
              <a:rPr lang="en-US" sz="2200" b="1" dirty="0">
                <a:solidFill>
                  <a:schemeClr val="bg1"/>
                </a:solidFill>
              </a:rPr>
              <a:t>Scan</a:t>
            </a:r>
            <a:endParaRPr lang="en-US" sz="2200" dirty="0"/>
          </a:p>
        </p:txBody>
      </p:sp>
      <p:sp>
        <p:nvSpPr>
          <p:cNvPr id="10" name="text-37"/>
          <p:cNvSpPr txBox="1"/>
          <p:nvPr/>
        </p:nvSpPr>
        <p:spPr>
          <a:xfrm>
            <a:off x="822960" y="4160520"/>
            <a:ext cx="2011680" cy="1143000"/>
          </a:xfrm>
          <a:prstGeom prst="rect">
            <a:avLst/>
          </a:prstGeom>
          <a:noFill/>
          <a:ln/>
        </p:spPr>
        <p:txBody>
          <a:bodyPr wrap="square" lIns="0" tIns="0" rIns="0" bIns="0" rtlCol="0" anchor="t"/>
          <a:lstStyle/>
          <a:p>
            <a:pPr marL="0" indent="0">
              <a:buNone/>
            </a:pPr>
            <a:r>
              <a:rPr lang="en-US" sz="1500" dirty="0">
                <a:solidFill>
                  <a:schemeClr val="accent2"/>
                </a:solidFill>
              </a:rPr>
              <a:t>Drop your pension statement. AI reads it. Three questions, one minute.</a:t>
            </a:r>
            <a:endParaRPr lang="en-US" sz="1500" dirty="0"/>
          </a:p>
        </p:txBody>
      </p:sp>
      <p:sp>
        <p:nvSpPr>
          <p:cNvPr id="11" name="card-38"/>
          <p:cNvSpPr/>
          <p:nvPr/>
        </p:nvSpPr>
        <p:spPr>
          <a:xfrm>
            <a:off x="3392424" y="2377440"/>
            <a:ext cx="2560320" cy="3017520"/>
          </a:xfrm>
          <a:prstGeom prst="roundRect">
            <a:avLst>
              <a:gd name="adj" fmla="val 5714"/>
            </a:avLst>
          </a:prstGeom>
          <a:solidFill>
            <a:schemeClr val="tx2"/>
          </a:solidFill>
          <a:ln w="12700">
            <a:solidFill>
              <a:schemeClr val="accent4"/>
            </a:solidFill>
            <a:prstDash val="solid"/>
          </a:ln>
        </p:spPr>
        <p:txBody>
          <a:bodyPr/>
          <a:lstStyle/>
          <a:p>
            <a:endParaRPr lang="ro-RO"/>
          </a:p>
        </p:txBody>
      </p:sp>
      <p:sp>
        <p:nvSpPr>
          <p:cNvPr id="12" name="icon-circle-39"/>
          <p:cNvSpPr/>
          <p:nvPr/>
        </p:nvSpPr>
        <p:spPr>
          <a:xfrm>
            <a:off x="3666744" y="2651760"/>
            <a:ext cx="777240" cy="777240"/>
          </a:xfrm>
          <a:prstGeom prst="ellipse">
            <a:avLst/>
          </a:prstGeom>
          <a:solidFill>
            <a:schemeClr val="accent3"/>
          </a:solidFill>
          <a:ln w="12700">
            <a:solidFill>
              <a:schemeClr val="accent3"/>
            </a:solidFill>
            <a:prstDash val="solid"/>
          </a:ln>
        </p:spPr>
        <p:txBody>
          <a:bodyPr/>
          <a:lstStyle/>
          <a:p>
            <a:endParaRPr lang="ro-RO"/>
          </a:p>
        </p:txBody>
      </p:sp>
      <p:pic>
        <p:nvPicPr>
          <p:cNvPr id="13" name="icon-40" descr="Eye icon"/>
          <p:cNvPicPr>
            <a:picLocks noChangeAspect="1"/>
          </p:cNvPicPr>
          <p:nvPr/>
        </p:nvPicPr>
        <p:blipFill>
          <a:blip r:embed="rId4"/>
          <a:stretch>
            <a:fillRect/>
          </a:stretch>
        </p:blipFill>
        <p:spPr>
          <a:xfrm>
            <a:off x="3876599" y="2861615"/>
            <a:ext cx="357530" cy="357530"/>
          </a:xfrm>
          <a:prstGeom prst="rect">
            <a:avLst/>
          </a:prstGeom>
        </p:spPr>
      </p:pic>
      <p:sp>
        <p:nvSpPr>
          <p:cNvPr id="14" name="text-41"/>
          <p:cNvSpPr txBox="1"/>
          <p:nvPr/>
        </p:nvSpPr>
        <p:spPr>
          <a:xfrm>
            <a:off x="5084064" y="2697480"/>
            <a:ext cx="594360" cy="365760"/>
          </a:xfrm>
          <a:prstGeom prst="rect">
            <a:avLst/>
          </a:prstGeom>
          <a:noFill/>
          <a:ln/>
        </p:spPr>
        <p:txBody>
          <a:bodyPr wrap="square" lIns="0" tIns="0" rIns="0" bIns="0" rtlCol="0" anchor="ctr"/>
          <a:lstStyle/>
          <a:p>
            <a:pPr marL="0" indent="0" algn="r">
              <a:buNone/>
            </a:pPr>
            <a:r>
              <a:rPr lang="en-US" sz="1800" b="1" dirty="0">
                <a:solidFill>
                  <a:schemeClr val="accent5"/>
                </a:solidFill>
              </a:rPr>
              <a:t>02</a:t>
            </a:r>
            <a:endParaRPr lang="en-US" sz="1800" dirty="0"/>
          </a:p>
        </p:txBody>
      </p:sp>
      <p:sp>
        <p:nvSpPr>
          <p:cNvPr id="15" name="text-42"/>
          <p:cNvSpPr txBox="1"/>
          <p:nvPr/>
        </p:nvSpPr>
        <p:spPr>
          <a:xfrm>
            <a:off x="3666744" y="3657600"/>
            <a:ext cx="2011680" cy="411480"/>
          </a:xfrm>
          <a:prstGeom prst="rect">
            <a:avLst/>
          </a:prstGeom>
          <a:noFill/>
          <a:ln/>
        </p:spPr>
        <p:txBody>
          <a:bodyPr wrap="square" lIns="0" tIns="0" rIns="0" bIns="0" rtlCol="0" anchor="t"/>
          <a:lstStyle/>
          <a:p>
            <a:pPr marL="0" indent="0">
              <a:buNone/>
            </a:pPr>
            <a:r>
              <a:rPr lang="en-US" sz="2200" b="1" dirty="0">
                <a:solidFill>
                  <a:schemeClr val="bg1"/>
                </a:solidFill>
              </a:rPr>
              <a:t>See</a:t>
            </a:r>
            <a:endParaRPr lang="en-US" sz="2200" dirty="0"/>
          </a:p>
        </p:txBody>
      </p:sp>
      <p:sp>
        <p:nvSpPr>
          <p:cNvPr id="16" name="text-43"/>
          <p:cNvSpPr txBox="1"/>
          <p:nvPr/>
        </p:nvSpPr>
        <p:spPr>
          <a:xfrm>
            <a:off x="3666744" y="4160520"/>
            <a:ext cx="2011680" cy="1143000"/>
          </a:xfrm>
          <a:prstGeom prst="rect">
            <a:avLst/>
          </a:prstGeom>
          <a:noFill/>
          <a:ln/>
        </p:spPr>
        <p:txBody>
          <a:bodyPr wrap="square" lIns="0" tIns="0" rIns="0" bIns="0" rtlCol="0" anchor="t"/>
          <a:lstStyle/>
          <a:p>
            <a:pPr marL="0" indent="0">
              <a:buNone/>
            </a:pPr>
            <a:r>
              <a:rPr lang="en-US" sz="1500" dirty="0">
                <a:solidFill>
                  <a:schemeClr val="accent2"/>
                </a:solidFill>
              </a:rPr>
              <a:t>Your retirement appears as a 3D island, built from your real numbers.</a:t>
            </a:r>
            <a:endParaRPr lang="en-US" sz="1500" dirty="0"/>
          </a:p>
        </p:txBody>
      </p:sp>
      <p:sp>
        <p:nvSpPr>
          <p:cNvPr id="17" name="card-44"/>
          <p:cNvSpPr/>
          <p:nvPr/>
        </p:nvSpPr>
        <p:spPr>
          <a:xfrm>
            <a:off x="6236208" y="2377440"/>
            <a:ext cx="2560320" cy="3017520"/>
          </a:xfrm>
          <a:prstGeom prst="roundRect">
            <a:avLst>
              <a:gd name="adj" fmla="val 5714"/>
            </a:avLst>
          </a:prstGeom>
          <a:solidFill>
            <a:schemeClr val="tx2"/>
          </a:solidFill>
          <a:ln w="12700">
            <a:solidFill>
              <a:schemeClr val="accent4"/>
            </a:solidFill>
            <a:prstDash val="solid"/>
          </a:ln>
        </p:spPr>
        <p:txBody>
          <a:bodyPr/>
          <a:lstStyle/>
          <a:p>
            <a:endParaRPr lang="ro-RO"/>
          </a:p>
        </p:txBody>
      </p:sp>
      <p:sp>
        <p:nvSpPr>
          <p:cNvPr id="18" name="icon-circle-45"/>
          <p:cNvSpPr/>
          <p:nvPr/>
        </p:nvSpPr>
        <p:spPr>
          <a:xfrm>
            <a:off x="6510528" y="2651760"/>
            <a:ext cx="777240" cy="777240"/>
          </a:xfrm>
          <a:prstGeom prst="ellipse">
            <a:avLst/>
          </a:prstGeom>
          <a:solidFill>
            <a:schemeClr val="accent3"/>
          </a:solidFill>
          <a:ln w="12700">
            <a:solidFill>
              <a:schemeClr val="accent3"/>
            </a:solidFill>
            <a:prstDash val="solid"/>
          </a:ln>
        </p:spPr>
        <p:txBody>
          <a:bodyPr/>
          <a:lstStyle/>
          <a:p>
            <a:endParaRPr lang="ro-RO"/>
          </a:p>
        </p:txBody>
      </p:sp>
      <p:pic>
        <p:nvPicPr>
          <p:cNvPr id="19" name="icon-46" descr="Coins icon"/>
          <p:cNvPicPr>
            <a:picLocks noChangeAspect="1"/>
          </p:cNvPicPr>
          <p:nvPr/>
        </p:nvPicPr>
        <p:blipFill>
          <a:blip r:embed="rId5"/>
          <a:stretch>
            <a:fillRect/>
          </a:stretch>
        </p:blipFill>
        <p:spPr>
          <a:xfrm>
            <a:off x="6720383" y="2861615"/>
            <a:ext cx="357530" cy="357530"/>
          </a:xfrm>
          <a:prstGeom prst="rect">
            <a:avLst/>
          </a:prstGeom>
        </p:spPr>
      </p:pic>
      <p:sp>
        <p:nvSpPr>
          <p:cNvPr id="20" name="text-47"/>
          <p:cNvSpPr txBox="1"/>
          <p:nvPr/>
        </p:nvSpPr>
        <p:spPr>
          <a:xfrm>
            <a:off x="7927848" y="2697480"/>
            <a:ext cx="594360" cy="365760"/>
          </a:xfrm>
          <a:prstGeom prst="rect">
            <a:avLst/>
          </a:prstGeom>
          <a:noFill/>
          <a:ln/>
        </p:spPr>
        <p:txBody>
          <a:bodyPr wrap="square" lIns="0" tIns="0" rIns="0" bIns="0" rtlCol="0" anchor="ctr"/>
          <a:lstStyle/>
          <a:p>
            <a:pPr marL="0" indent="0" algn="r">
              <a:buNone/>
            </a:pPr>
            <a:r>
              <a:rPr lang="en-US" sz="1800" b="1" dirty="0">
                <a:solidFill>
                  <a:schemeClr val="accent5"/>
                </a:solidFill>
              </a:rPr>
              <a:t>03</a:t>
            </a:r>
            <a:endParaRPr lang="en-US" sz="1800" dirty="0"/>
          </a:p>
        </p:txBody>
      </p:sp>
      <p:sp>
        <p:nvSpPr>
          <p:cNvPr id="21" name="text-48"/>
          <p:cNvSpPr txBox="1"/>
          <p:nvPr/>
        </p:nvSpPr>
        <p:spPr>
          <a:xfrm>
            <a:off x="6510528" y="3657600"/>
            <a:ext cx="2011680" cy="411480"/>
          </a:xfrm>
          <a:prstGeom prst="rect">
            <a:avLst/>
          </a:prstGeom>
          <a:noFill/>
          <a:ln/>
        </p:spPr>
        <p:txBody>
          <a:bodyPr wrap="square" lIns="0" tIns="0" rIns="0" bIns="0" rtlCol="0" anchor="t"/>
          <a:lstStyle/>
          <a:p>
            <a:pPr marL="0" indent="0">
              <a:buNone/>
            </a:pPr>
            <a:r>
              <a:rPr lang="en-US" sz="2200" b="1" dirty="0">
                <a:solidFill>
                  <a:schemeClr val="bg1"/>
                </a:solidFill>
              </a:rPr>
              <a:t>Round up</a:t>
            </a:r>
            <a:endParaRPr lang="en-US" sz="2200" dirty="0"/>
          </a:p>
        </p:txBody>
      </p:sp>
      <p:sp>
        <p:nvSpPr>
          <p:cNvPr id="22" name="text-49"/>
          <p:cNvSpPr txBox="1"/>
          <p:nvPr/>
        </p:nvSpPr>
        <p:spPr>
          <a:xfrm>
            <a:off x="6510528" y="4160520"/>
            <a:ext cx="2011680" cy="1143000"/>
          </a:xfrm>
          <a:prstGeom prst="rect">
            <a:avLst/>
          </a:prstGeom>
          <a:noFill/>
          <a:ln/>
        </p:spPr>
        <p:txBody>
          <a:bodyPr wrap="square" lIns="0" tIns="0" rIns="0" bIns="0" rtlCol="0" anchor="t"/>
          <a:lstStyle/>
          <a:p>
            <a:pPr marL="0" indent="0">
              <a:buNone/>
            </a:pPr>
            <a:r>
              <a:rPr lang="en-US" sz="1500" dirty="0">
                <a:solidFill>
                  <a:schemeClr val="accent2"/>
                </a:solidFill>
              </a:rPr>
              <a:t>Every card payment is rounded up in a counter. No money moves yet.</a:t>
            </a:r>
            <a:endParaRPr lang="en-US" sz="1500" dirty="0"/>
          </a:p>
        </p:txBody>
      </p:sp>
      <p:sp>
        <p:nvSpPr>
          <p:cNvPr id="23" name="card-50"/>
          <p:cNvSpPr/>
          <p:nvPr/>
        </p:nvSpPr>
        <p:spPr>
          <a:xfrm>
            <a:off x="9079992" y="2377440"/>
            <a:ext cx="2560320" cy="3017520"/>
          </a:xfrm>
          <a:prstGeom prst="roundRect">
            <a:avLst>
              <a:gd name="adj" fmla="val 5714"/>
            </a:avLst>
          </a:prstGeom>
          <a:solidFill>
            <a:schemeClr val="tx2"/>
          </a:solidFill>
          <a:ln w="12700">
            <a:solidFill>
              <a:schemeClr val="accent4"/>
            </a:solidFill>
            <a:prstDash val="solid"/>
          </a:ln>
        </p:spPr>
        <p:txBody>
          <a:bodyPr/>
          <a:lstStyle/>
          <a:p>
            <a:endParaRPr lang="ro-RO"/>
          </a:p>
        </p:txBody>
      </p:sp>
      <p:sp>
        <p:nvSpPr>
          <p:cNvPr id="24" name="icon-circle-51"/>
          <p:cNvSpPr/>
          <p:nvPr/>
        </p:nvSpPr>
        <p:spPr>
          <a:xfrm>
            <a:off x="9354312" y="2651760"/>
            <a:ext cx="777240" cy="777240"/>
          </a:xfrm>
          <a:prstGeom prst="ellipse">
            <a:avLst/>
          </a:prstGeom>
          <a:solidFill>
            <a:schemeClr val="accent3"/>
          </a:solidFill>
          <a:ln w="12700">
            <a:solidFill>
              <a:schemeClr val="accent3"/>
            </a:solidFill>
            <a:prstDash val="solid"/>
          </a:ln>
        </p:spPr>
        <p:txBody>
          <a:bodyPr/>
          <a:lstStyle/>
          <a:p>
            <a:endParaRPr lang="ro-RO"/>
          </a:p>
        </p:txBody>
      </p:sp>
      <p:pic>
        <p:nvPicPr>
          <p:cNvPr id="25" name="icon-52" descr="HandPointer icon"/>
          <p:cNvPicPr>
            <a:picLocks noChangeAspect="1"/>
          </p:cNvPicPr>
          <p:nvPr/>
        </p:nvPicPr>
        <p:blipFill>
          <a:blip r:embed="rId6"/>
          <a:stretch>
            <a:fillRect/>
          </a:stretch>
        </p:blipFill>
        <p:spPr>
          <a:xfrm>
            <a:off x="9564167" y="2861615"/>
            <a:ext cx="357530" cy="357530"/>
          </a:xfrm>
          <a:prstGeom prst="rect">
            <a:avLst/>
          </a:prstGeom>
        </p:spPr>
      </p:pic>
      <p:sp>
        <p:nvSpPr>
          <p:cNvPr id="26" name="text-53"/>
          <p:cNvSpPr txBox="1"/>
          <p:nvPr/>
        </p:nvSpPr>
        <p:spPr>
          <a:xfrm>
            <a:off x="10771632" y="2697480"/>
            <a:ext cx="594360" cy="365760"/>
          </a:xfrm>
          <a:prstGeom prst="rect">
            <a:avLst/>
          </a:prstGeom>
          <a:noFill/>
          <a:ln/>
        </p:spPr>
        <p:txBody>
          <a:bodyPr wrap="square" lIns="0" tIns="0" rIns="0" bIns="0" rtlCol="0" anchor="ctr"/>
          <a:lstStyle/>
          <a:p>
            <a:pPr marL="0" indent="0" algn="r">
              <a:buNone/>
            </a:pPr>
            <a:r>
              <a:rPr lang="en-US" sz="1800" b="1" dirty="0">
                <a:solidFill>
                  <a:schemeClr val="accent5"/>
                </a:solidFill>
              </a:rPr>
              <a:t>04</a:t>
            </a:r>
            <a:endParaRPr lang="en-US" sz="1800" dirty="0"/>
          </a:p>
        </p:txBody>
      </p:sp>
      <p:sp>
        <p:nvSpPr>
          <p:cNvPr id="27" name="text-54"/>
          <p:cNvSpPr txBox="1"/>
          <p:nvPr/>
        </p:nvSpPr>
        <p:spPr>
          <a:xfrm>
            <a:off x="9354312" y="3657600"/>
            <a:ext cx="2011680" cy="411480"/>
          </a:xfrm>
          <a:prstGeom prst="rect">
            <a:avLst/>
          </a:prstGeom>
          <a:noFill/>
          <a:ln/>
        </p:spPr>
        <p:txBody>
          <a:bodyPr wrap="square" lIns="0" tIns="0" rIns="0" bIns="0" rtlCol="0" anchor="t"/>
          <a:lstStyle/>
          <a:p>
            <a:pPr marL="0" indent="0">
              <a:buNone/>
            </a:pPr>
            <a:r>
              <a:rPr lang="en-US" sz="2200" b="1" dirty="0">
                <a:solidFill>
                  <a:schemeClr val="bg1"/>
                </a:solidFill>
              </a:rPr>
              <a:t>One tap</a:t>
            </a:r>
            <a:endParaRPr lang="en-US" sz="2200" dirty="0"/>
          </a:p>
        </p:txBody>
      </p:sp>
      <p:sp>
        <p:nvSpPr>
          <p:cNvPr id="28" name="text-55"/>
          <p:cNvSpPr txBox="1"/>
          <p:nvPr/>
        </p:nvSpPr>
        <p:spPr>
          <a:xfrm>
            <a:off x="9354312" y="4160520"/>
            <a:ext cx="2011680" cy="1143000"/>
          </a:xfrm>
          <a:prstGeom prst="rect">
            <a:avLst/>
          </a:prstGeom>
          <a:noFill/>
          <a:ln/>
        </p:spPr>
        <p:txBody>
          <a:bodyPr wrap="square" lIns="0" tIns="0" rIns="0" bIns="0" rtlCol="0" anchor="t"/>
          <a:lstStyle/>
          <a:p>
            <a:pPr marL="0" indent="0">
              <a:buNone/>
            </a:pPr>
            <a:r>
              <a:rPr lang="en-US" sz="1500" dirty="0">
                <a:solidFill>
                  <a:schemeClr val="accent2"/>
                </a:solidFill>
              </a:rPr>
              <a:t>Once a month, add it to your Pillar III. Your island levels up.</a:t>
            </a:r>
            <a:endParaRPr lang="en-US" sz="1500" dirty="0"/>
          </a:p>
        </p:txBody>
      </p:sp>
      <p:sp>
        <p:nvSpPr>
          <p:cNvPr id="29" name="text-56"/>
          <p:cNvSpPr txBox="1"/>
          <p:nvPr/>
        </p:nvSpPr>
        <p:spPr>
          <a:xfrm>
            <a:off x="548640" y="5760720"/>
            <a:ext cx="10972800" cy="365760"/>
          </a:xfrm>
          <a:prstGeom prst="rect">
            <a:avLst/>
          </a:prstGeom>
          <a:noFill/>
          <a:ln/>
        </p:spPr>
        <p:txBody>
          <a:bodyPr wrap="square" lIns="0" tIns="0" rIns="0" bIns="0" rtlCol="0" anchor="t"/>
          <a:lstStyle/>
          <a:p>
            <a:pPr marL="0" indent="0">
              <a:buNone/>
            </a:pPr>
            <a:r>
              <a:rPr lang="en-US" sz="1800" i="1" dirty="0">
                <a:solidFill>
                  <a:schemeClr val="accent2"/>
                </a:solidFill>
              </a:rPr>
              <a:t>Not a budgeting app. Not a trading app. One problem, one loop.</a:t>
            </a:r>
            <a:endParaRPr lang="en-US" sz="1800" dirty="0"/>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What exists, what's missing, what we do</a:t>
            </a:r>
            <a:endParaRPr lang="en-US" sz="3600" dirty="0"/>
          </a:p>
        </p:txBody>
      </p:sp>
      <p:sp>
        <p:nvSpPr>
          <p:cNvPr id="2" name="Title 1"/>
          <p:cNvSpPr>
            <a:spLocks noGrp="1"/>
          </p:cNvSpPr>
          <p:nvPr>
            <p:ph type="title" idx="100"/>
          </p:nvPr>
        </p:nvSpPr>
        <p:spPr/>
        <p:txBody>
          <a:bodyPr/>
          <a:lstStyle/>
          <a:p>
            <a:endParaRPr/>
          </a:p>
        </p:txBody>
      </p:sp>
      <p:sp>
        <p:nvSpPr>
          <p:cNvPr id="4" name="TextBox 3"/>
          <p:cNvSpPr txBox="1"/>
          <p:nvPr/>
        </p:nvSpPr>
        <p:spPr>
          <a:xfrm>
            <a:off x="548640" y="347472"/>
            <a:ext cx="7315200" cy="256032"/>
          </a:xfrm>
          <a:prstGeom prst="rect">
            <a:avLst/>
          </a:prstGeom>
          <a:noFill/>
        </p:spPr>
        <p:txBody>
          <a:bodyPr wrap="square" lIns="0" tIns="0" rIns="0" bIns="0" anchor="t">
            <a:spAutoFit/>
          </a:bodyPr>
          <a:lstStyle/>
          <a:p>
            <a:pPr algn="l"/>
            <a:r>
              <a:rPr sz="1200" b="1" i="0" spc="400">
                <a:solidFill>
                  <a:schemeClr val="accent2"/>
                </a:solidFill>
              </a:rPr>
              <a:t>DIFFERENTIATION</a:t>
            </a:r>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4</a:t>
            </a:fld>
            <a:endParaRPr lang="en-US"/>
          </a:p>
        </p:txBody>
      </p:sp>
      <p:sp>
        <p:nvSpPr>
          <p:cNvPr id="31" name="card"/>
          <p:cNvSpPr/>
          <p:nvPr/>
        </p:nvSpPr>
        <p:spPr>
          <a:xfrm>
            <a:off x="548640" y="1691640"/>
            <a:ext cx="3566160" cy="3429000"/>
          </a:xfrm>
          <a:prstGeom prst="roundRect">
            <a:avLst>
              <a:gd name="adj" fmla="val 8000"/>
            </a:avLst>
          </a:prstGeom>
          <a:solidFill>
            <a:schemeClr val="tx2"/>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con-circle"/>
          <p:cNvSpPr/>
          <p:nvPr/>
        </p:nvSpPr>
        <p:spPr>
          <a:xfrm>
            <a:off x="822959" y="1920240"/>
            <a:ext cx="640080" cy="6400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FaCalculator icon" descr="Calculator icon"/>
          <p:cNvPicPr>
            <a:picLocks noChangeAspect="1"/>
          </p:cNvPicPr>
          <p:nvPr/>
        </p:nvPicPr>
        <p:blipFill>
          <a:blip r:embed="rId3"/>
          <a:stretch>
            <a:fillRect/>
          </a:stretch>
        </p:blipFill>
        <p:spPr>
          <a:xfrm>
            <a:off x="995781" y="2093061"/>
            <a:ext cx="294436" cy="294436"/>
          </a:xfrm>
          <a:prstGeom prst="rect">
            <a:avLst/>
          </a:prstGeom>
        </p:spPr>
      </p:pic>
      <p:sp>
        <p:nvSpPr>
          <p:cNvPr id="34" name="TextBox 33"/>
          <p:cNvSpPr txBox="1"/>
          <p:nvPr/>
        </p:nvSpPr>
        <p:spPr>
          <a:xfrm>
            <a:off x="1645919" y="1920240"/>
            <a:ext cx="2240280" cy="640080"/>
          </a:xfrm>
          <a:prstGeom prst="rect">
            <a:avLst/>
          </a:prstGeom>
          <a:noFill/>
        </p:spPr>
        <p:txBody>
          <a:bodyPr wrap="square" lIns="0" tIns="0" rIns="0" bIns="0" anchor="ctr">
            <a:spAutoFit/>
          </a:bodyPr>
          <a:lstStyle/>
          <a:p>
            <a:pPr algn="l"/>
            <a:r>
              <a:rPr sz="2200" b="1" i="0">
                <a:solidFill>
                  <a:schemeClr val="bg1"/>
                </a:solidFill>
              </a:rPr>
              <a:t>What exists</a:t>
            </a:r>
          </a:p>
        </p:txBody>
      </p:sp>
      <p:sp>
        <p:nvSpPr>
          <p:cNvPr id="35" name="TextBox 34"/>
          <p:cNvSpPr txBox="1"/>
          <p:nvPr/>
        </p:nvSpPr>
        <p:spPr>
          <a:xfrm>
            <a:off x="822959" y="2834640"/>
            <a:ext cx="3017520" cy="2194560"/>
          </a:xfrm>
          <a:prstGeom prst="rect">
            <a:avLst/>
          </a:prstGeom>
          <a:noFill/>
        </p:spPr>
        <p:txBody>
          <a:bodyPr wrap="square" lIns="0" tIns="0" rIns="0" bIns="0" anchor="t">
            <a:spAutoFit/>
          </a:bodyPr>
          <a:lstStyle/>
          <a:p>
            <a:pPr marL="228600" indent="-228600" algn="l">
              <a:spcAft>
                <a:spcPts val="900"/>
              </a:spcAft>
              <a:buChar char="•"/>
            </a:pPr>
            <a:r>
              <a:rPr sz="1500" b="0" i="0">
                <a:solidFill>
                  <a:schemeClr val="bg2"/>
                </a:solidFill>
              </a:rPr>
              <a:t>Bank pension calculators: one number in a form</a:t>
            </a:r>
          </a:p>
          <a:p>
            <a:pPr marL="228600" indent="-228600" algn="l">
              <a:spcAft>
                <a:spcPts val="900"/>
              </a:spcAft>
              <a:buChar char="•"/>
            </a:pPr>
            <a:r>
              <a:rPr sz="1500" b="0" i="0">
                <a:solidFill>
                  <a:schemeClr val="bg2"/>
                </a:solidFill>
              </a:rPr>
              <a:t>Round-up apps like Revolut: a counter that feeds a savings pot</a:t>
            </a:r>
          </a:p>
          <a:p>
            <a:pPr marL="228600" indent="-228600" algn="l">
              <a:buChar char="•"/>
            </a:pPr>
            <a:r>
              <a:rPr sz="1500" b="0" i="0">
                <a:solidFill>
                  <a:schemeClr val="bg2"/>
                </a:solidFill>
              </a:rPr>
              <a:t>Savings apps: generic goals, no pension behind them</a:t>
            </a:r>
          </a:p>
        </p:txBody>
      </p:sp>
      <p:sp>
        <p:nvSpPr>
          <p:cNvPr id="36" name="card"/>
          <p:cNvSpPr/>
          <p:nvPr/>
        </p:nvSpPr>
        <p:spPr>
          <a:xfrm>
            <a:off x="4311396" y="1691640"/>
            <a:ext cx="3566160" cy="3429000"/>
          </a:xfrm>
          <a:prstGeom prst="roundRect">
            <a:avLst>
              <a:gd name="adj" fmla="val 8000"/>
            </a:avLst>
          </a:prstGeom>
          <a:solidFill>
            <a:schemeClr val="tx2"/>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icon-circle"/>
          <p:cNvSpPr/>
          <p:nvPr/>
        </p:nvSpPr>
        <p:spPr>
          <a:xfrm>
            <a:off x="4585716" y="1920240"/>
            <a:ext cx="640080" cy="6400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FaEyeSlash icon" descr="EyeSlash icon"/>
          <p:cNvPicPr>
            <a:picLocks noChangeAspect="1"/>
          </p:cNvPicPr>
          <p:nvPr/>
        </p:nvPicPr>
        <p:blipFill>
          <a:blip r:embed="rId4"/>
          <a:stretch>
            <a:fillRect/>
          </a:stretch>
        </p:blipFill>
        <p:spPr>
          <a:xfrm>
            <a:off x="4758537" y="2093061"/>
            <a:ext cx="294436" cy="294436"/>
          </a:xfrm>
          <a:prstGeom prst="rect">
            <a:avLst/>
          </a:prstGeom>
        </p:spPr>
      </p:pic>
      <p:sp>
        <p:nvSpPr>
          <p:cNvPr id="39" name="TextBox 38"/>
          <p:cNvSpPr txBox="1"/>
          <p:nvPr/>
        </p:nvSpPr>
        <p:spPr>
          <a:xfrm>
            <a:off x="5408676" y="1920240"/>
            <a:ext cx="2240280" cy="640080"/>
          </a:xfrm>
          <a:prstGeom prst="rect">
            <a:avLst/>
          </a:prstGeom>
          <a:noFill/>
        </p:spPr>
        <p:txBody>
          <a:bodyPr wrap="square" lIns="0" tIns="0" rIns="0" bIns="0" anchor="ctr">
            <a:spAutoFit/>
          </a:bodyPr>
          <a:lstStyle/>
          <a:p>
            <a:pPr algn="l"/>
            <a:r>
              <a:rPr sz="2200" b="1" i="0">
                <a:solidFill>
                  <a:schemeClr val="bg1"/>
                </a:solidFill>
              </a:rPr>
              <a:t>What's missing</a:t>
            </a:r>
          </a:p>
        </p:txBody>
      </p:sp>
      <p:sp>
        <p:nvSpPr>
          <p:cNvPr id="40" name="TextBox 39"/>
          <p:cNvSpPr txBox="1"/>
          <p:nvPr/>
        </p:nvSpPr>
        <p:spPr>
          <a:xfrm>
            <a:off x="4585716" y="2834640"/>
            <a:ext cx="3017520" cy="2194560"/>
          </a:xfrm>
          <a:prstGeom prst="rect">
            <a:avLst/>
          </a:prstGeom>
          <a:noFill/>
        </p:spPr>
        <p:txBody>
          <a:bodyPr wrap="square" lIns="0" tIns="0" rIns="0" bIns="0" anchor="t">
            <a:spAutoFit/>
          </a:bodyPr>
          <a:lstStyle/>
          <a:p>
            <a:pPr marL="228600" indent="-228600" algn="l">
              <a:spcAft>
                <a:spcPts val="900"/>
              </a:spcAft>
              <a:buChar char="•"/>
            </a:pPr>
            <a:r>
              <a:rPr sz="1500" b="0" i="0">
                <a:solidFill>
                  <a:schemeClr val="bg2"/>
                </a:solidFill>
              </a:rPr>
              <a:t>A retirement you can actually see</a:t>
            </a:r>
          </a:p>
          <a:p>
            <a:pPr marL="228600" indent="-228600" algn="l">
              <a:spcAft>
                <a:spcPts val="900"/>
              </a:spcAft>
              <a:buChar char="•"/>
            </a:pPr>
            <a:r>
              <a:rPr sz="1500" b="0" i="0">
                <a:solidFill>
                  <a:schemeClr val="bg2"/>
                </a:solidFill>
              </a:rPr>
              <a:t>Round-ups that lead into a regulated pension product</a:t>
            </a:r>
          </a:p>
          <a:p>
            <a:pPr marL="228600" indent="-228600" algn="l">
              <a:buChar char="•"/>
            </a:pPr>
            <a:r>
              <a:rPr sz="1500" b="0" i="0">
                <a:solidFill>
                  <a:schemeClr val="bg2"/>
                </a:solidFill>
              </a:rPr>
              <a:t>A reason to come back every month</a:t>
            </a:r>
          </a:p>
        </p:txBody>
      </p:sp>
      <p:sp>
        <p:nvSpPr>
          <p:cNvPr id="41" name="card"/>
          <p:cNvSpPr/>
          <p:nvPr/>
        </p:nvSpPr>
        <p:spPr>
          <a:xfrm>
            <a:off x="8074152" y="1691640"/>
            <a:ext cx="3566160" cy="3429000"/>
          </a:xfrm>
          <a:prstGeom prst="roundRect">
            <a:avLst>
              <a:gd name="adj" fmla="val 8000"/>
            </a:avLst>
          </a:prstGeom>
          <a:solidFill>
            <a:schemeClr val="accent3"/>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con-circle"/>
          <p:cNvSpPr/>
          <p:nvPr/>
        </p:nvSpPr>
        <p:spPr>
          <a:xfrm>
            <a:off x="8348472" y="1920240"/>
            <a:ext cx="640080" cy="6400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FaCube icon" descr="Cube icon"/>
          <p:cNvPicPr>
            <a:picLocks noChangeAspect="1"/>
          </p:cNvPicPr>
          <p:nvPr/>
        </p:nvPicPr>
        <p:blipFill>
          <a:blip r:embed="rId5"/>
          <a:stretch>
            <a:fillRect/>
          </a:stretch>
        </p:blipFill>
        <p:spPr>
          <a:xfrm>
            <a:off x="8521293" y="2093061"/>
            <a:ext cx="294436" cy="294436"/>
          </a:xfrm>
          <a:prstGeom prst="rect">
            <a:avLst/>
          </a:prstGeom>
        </p:spPr>
      </p:pic>
      <p:sp>
        <p:nvSpPr>
          <p:cNvPr id="44" name="TextBox 43"/>
          <p:cNvSpPr txBox="1"/>
          <p:nvPr/>
        </p:nvSpPr>
        <p:spPr>
          <a:xfrm>
            <a:off x="9171432" y="1920240"/>
            <a:ext cx="2240280" cy="640080"/>
          </a:xfrm>
          <a:prstGeom prst="rect">
            <a:avLst/>
          </a:prstGeom>
          <a:noFill/>
        </p:spPr>
        <p:txBody>
          <a:bodyPr wrap="square" lIns="0" tIns="0" rIns="0" bIns="0" anchor="ctr">
            <a:spAutoFit/>
          </a:bodyPr>
          <a:lstStyle/>
          <a:p>
            <a:pPr algn="l"/>
            <a:r>
              <a:rPr sz="2200" b="1" i="0">
                <a:solidFill>
                  <a:schemeClr val="bg1"/>
                </a:solidFill>
              </a:rPr>
              <a:t>What we do</a:t>
            </a:r>
          </a:p>
        </p:txBody>
      </p:sp>
      <p:sp>
        <p:nvSpPr>
          <p:cNvPr id="45" name="TextBox 44"/>
          <p:cNvSpPr txBox="1"/>
          <p:nvPr/>
        </p:nvSpPr>
        <p:spPr>
          <a:xfrm>
            <a:off x="8348472" y="2834640"/>
            <a:ext cx="3017520" cy="2194560"/>
          </a:xfrm>
          <a:prstGeom prst="rect">
            <a:avLst/>
          </a:prstGeom>
          <a:noFill/>
        </p:spPr>
        <p:txBody>
          <a:bodyPr wrap="square" lIns="0" tIns="0" rIns="0" bIns="0" anchor="t">
            <a:spAutoFit/>
          </a:bodyPr>
          <a:lstStyle/>
          <a:p>
            <a:pPr marL="228600" indent="-228600" algn="l">
              <a:spcAft>
                <a:spcPts val="900"/>
              </a:spcAft>
              <a:buChar char="•"/>
            </a:pPr>
            <a:r>
              <a:rPr sz="1500" b="0" i="0">
                <a:solidFill>
                  <a:schemeClr val="bg1"/>
                </a:solidFill>
              </a:rPr>
              <a:t>A 3D island that shows how you'll live at 65</a:t>
            </a:r>
          </a:p>
          <a:p>
            <a:pPr marL="228600" indent="-228600" algn="l">
              <a:spcAft>
                <a:spcPts val="900"/>
              </a:spcAft>
              <a:buChar char="•"/>
            </a:pPr>
            <a:r>
              <a:rPr sz="1500" b="0" i="0">
                <a:solidFill>
                  <a:schemeClr val="bg1"/>
                </a:solidFill>
              </a:rPr>
              <a:t>Every contribution goes into a real Pillar III and upgrades the island</a:t>
            </a:r>
          </a:p>
          <a:p>
            <a:pPr marL="228600" indent="-228600" algn="l">
              <a:buChar char="•"/>
            </a:pPr>
            <a:r>
              <a:rPr sz="1500" b="0" i="0">
                <a:solidFill>
                  <a:schemeClr val="bg1"/>
                </a:solidFill>
              </a:rPr>
              <a:t>A monthly loop people want to open</a:t>
            </a:r>
          </a:p>
        </p:txBody>
      </p:sp>
      <p:sp>
        <p:nvSpPr>
          <p:cNvPr id="46" name="card"/>
          <p:cNvSpPr/>
          <p:nvPr/>
        </p:nvSpPr>
        <p:spPr>
          <a:xfrm>
            <a:off x="548640" y="5349240"/>
            <a:ext cx="11091672" cy="777240"/>
          </a:xfrm>
          <a:prstGeom prst="roundRect">
            <a:avLst>
              <a:gd name="adj" fmla="val 8000"/>
            </a:avLst>
          </a:prstGeom>
          <a:solidFill>
            <a:schemeClr val="accent6"/>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68680" y="5349240"/>
            <a:ext cx="10424160" cy="777240"/>
          </a:xfrm>
          <a:prstGeom prst="rect">
            <a:avLst/>
          </a:prstGeom>
          <a:noFill/>
        </p:spPr>
        <p:txBody>
          <a:bodyPr wrap="square" lIns="0" tIns="0" rIns="0" bIns="0" anchor="ctr">
            <a:spAutoFit/>
          </a:bodyPr>
          <a:lstStyle/>
          <a:p>
            <a:pPr algn="l"/>
            <a:r>
              <a:rPr sz="1900" b="1" i="0">
                <a:solidFill>
                  <a:schemeClr val="bg1"/>
                </a:solidFill>
              </a:rPr>
              <a:t>The real difference: a 3D island wired to a regulated product (Pillar III), not just a counter.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57"/>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THE GAME</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Your island is your progress bar</a:t>
            </a:r>
            <a:endParaRPr lang="en-US" sz="3600" dirty="0"/>
          </a:p>
        </p:txBody>
      </p:sp>
      <p:sp>
        <p:nvSpPr>
          <p:cNvPr id="4" name="card-58"/>
          <p:cNvSpPr/>
          <p:nvPr/>
        </p:nvSpPr>
        <p:spPr>
          <a:xfrm>
            <a:off x="548640" y="1783080"/>
            <a:ext cx="5212080" cy="4114800"/>
          </a:xfrm>
          <a:prstGeom prst="roundRect">
            <a:avLst>
              <a:gd name="adj" fmla="val 3556"/>
            </a:avLst>
          </a:prstGeom>
          <a:solidFill>
            <a:schemeClr val="tx2"/>
          </a:solidFill>
          <a:ln w="12700">
            <a:solidFill>
              <a:schemeClr val="accent4"/>
            </a:solidFill>
            <a:prstDash val="solid"/>
          </a:ln>
        </p:spPr>
        <p:txBody>
          <a:bodyPr/>
          <a:lstStyle/>
          <a:p>
            <a:endParaRPr lang="ro-RO"/>
          </a:p>
        </p:txBody>
      </p:sp>
      <p:sp>
        <p:nvSpPr>
          <p:cNvPr id="5" name="text-59"/>
          <p:cNvSpPr txBox="1"/>
          <p:nvPr/>
        </p:nvSpPr>
        <p:spPr>
          <a:xfrm>
            <a:off x="914400" y="2103120"/>
            <a:ext cx="448056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DAYS OF FREEDOM</a:t>
            </a:r>
            <a:endParaRPr lang="en-US" sz="1200" dirty="0"/>
          </a:p>
        </p:txBody>
      </p:sp>
      <p:sp>
        <p:nvSpPr>
          <p:cNvPr id="6" name="text-60"/>
          <p:cNvSpPr txBox="1"/>
          <p:nvPr/>
        </p:nvSpPr>
        <p:spPr>
          <a:xfrm>
            <a:off x="914400" y="2468880"/>
            <a:ext cx="4572000" cy="822960"/>
          </a:xfrm>
          <a:prstGeom prst="rect">
            <a:avLst/>
          </a:prstGeom>
          <a:noFill/>
          <a:ln/>
        </p:spPr>
        <p:txBody>
          <a:bodyPr wrap="square" lIns="0" tIns="0" rIns="0" bIns="0" rtlCol="0" anchor="ctr"/>
          <a:lstStyle/>
          <a:p>
            <a:pPr marL="0" indent="0">
              <a:buNone/>
            </a:pPr>
            <a:r>
              <a:rPr lang="en-US" sz="4000" b="1" dirty="0">
                <a:solidFill>
                  <a:schemeClr val="bg1"/>
                </a:solidFill>
              </a:rPr>
              <a:t>3 years 2 months</a:t>
            </a:r>
            <a:endParaRPr lang="en-US" sz="4000" dirty="0"/>
          </a:p>
        </p:txBody>
      </p:sp>
      <p:sp>
        <p:nvSpPr>
          <p:cNvPr id="7" name="text-61"/>
          <p:cNvSpPr txBox="1"/>
          <p:nvPr/>
        </p:nvSpPr>
        <p:spPr>
          <a:xfrm>
            <a:off x="914400" y="3337560"/>
            <a:ext cx="4480560" cy="548640"/>
          </a:xfrm>
          <a:prstGeom prst="rect">
            <a:avLst/>
          </a:prstGeom>
          <a:noFill/>
          <a:ln/>
        </p:spPr>
        <p:txBody>
          <a:bodyPr wrap="square" lIns="0" tIns="0" rIns="0" bIns="0" rtlCol="0" anchor="t"/>
          <a:lstStyle/>
          <a:p>
            <a:pPr marL="0" indent="0">
              <a:buNone/>
            </a:pPr>
            <a:r>
              <a:rPr lang="en-US" sz="1500" dirty="0">
                <a:solidFill>
                  <a:schemeClr val="accent2"/>
                </a:solidFill>
              </a:rPr>
              <a:t>of retirement your private savings already cover</a:t>
            </a:r>
            <a:endParaRPr lang="en-US" sz="1500" dirty="0"/>
          </a:p>
        </p:txBody>
      </p:sp>
      <p:sp>
        <p:nvSpPr>
          <p:cNvPr id="8" name="pill-62"/>
          <p:cNvSpPr/>
          <p:nvPr/>
        </p:nvSpPr>
        <p:spPr>
          <a:xfrm>
            <a:off x="914400" y="4023360"/>
            <a:ext cx="3383280" cy="457200"/>
          </a:xfrm>
          <a:prstGeom prst="roundRect">
            <a:avLst>
              <a:gd name="adj" fmla="val 50000"/>
            </a:avLst>
          </a:prstGeom>
          <a:solidFill>
            <a:schemeClr val="accent1"/>
          </a:solidFill>
          <a:ln w="12700">
            <a:solidFill>
              <a:schemeClr val="accent1"/>
            </a:solidFill>
            <a:prstDash val="solid"/>
          </a:ln>
        </p:spPr>
        <p:txBody>
          <a:bodyPr/>
          <a:lstStyle/>
          <a:p>
            <a:endParaRPr lang="ro-RO"/>
          </a:p>
        </p:txBody>
      </p:sp>
      <p:sp>
        <p:nvSpPr>
          <p:cNvPr id="9" name="text-63"/>
          <p:cNvSpPr txBox="1"/>
          <p:nvPr/>
        </p:nvSpPr>
        <p:spPr>
          <a:xfrm>
            <a:off x="914400" y="4023360"/>
            <a:ext cx="3383280" cy="457200"/>
          </a:xfrm>
          <a:prstGeom prst="rect">
            <a:avLst/>
          </a:prstGeom>
          <a:noFill/>
          <a:ln/>
        </p:spPr>
        <p:txBody>
          <a:bodyPr wrap="square" lIns="0" tIns="0" rIns="0" bIns="0" rtlCol="0" anchor="ctr"/>
          <a:lstStyle/>
          <a:p>
            <a:pPr marL="0" indent="0" algn="ctr">
              <a:buNone/>
            </a:pPr>
            <a:r>
              <a:rPr lang="en-US" sz="1400" b="1" dirty="0">
                <a:solidFill>
                  <a:schemeClr val="bg1"/>
                </a:solidFill>
              </a:rPr>
              <a:t>+6 days since using our app</a:t>
            </a:r>
            <a:endParaRPr lang="en-US" sz="1400" dirty="0"/>
          </a:p>
        </p:txBody>
      </p:sp>
      <p:sp>
        <p:nvSpPr>
          <p:cNvPr id="10" name="text-64"/>
          <p:cNvSpPr txBox="1"/>
          <p:nvPr/>
        </p:nvSpPr>
        <p:spPr>
          <a:xfrm>
            <a:off x="914400" y="4754880"/>
            <a:ext cx="4480560" cy="274320"/>
          </a:xfrm>
          <a:prstGeom prst="rect">
            <a:avLst/>
          </a:prstGeom>
          <a:noFill/>
          <a:ln/>
        </p:spPr>
        <p:txBody>
          <a:bodyPr wrap="square" lIns="0" tIns="0" rIns="0" bIns="0" rtlCol="0" anchor="t"/>
          <a:lstStyle/>
          <a:p>
            <a:pPr marL="0" indent="0">
              <a:buNone/>
            </a:pPr>
            <a:r>
              <a:rPr lang="en-US" sz="1400" b="1" dirty="0">
                <a:solidFill>
                  <a:schemeClr val="bg1"/>
                </a:solidFill>
              </a:rPr>
              <a:t>Level 10  ·  380 / 400 XP</a:t>
            </a:r>
            <a:endParaRPr lang="en-US" sz="1400" dirty="0"/>
          </a:p>
        </p:txBody>
      </p:sp>
      <p:sp>
        <p:nvSpPr>
          <p:cNvPr id="11" name="xp-track-65"/>
          <p:cNvSpPr/>
          <p:nvPr/>
        </p:nvSpPr>
        <p:spPr>
          <a:xfrm>
            <a:off x="914400" y="5120640"/>
            <a:ext cx="4480560" cy="201168"/>
          </a:xfrm>
          <a:prstGeom prst="roundRect">
            <a:avLst>
              <a:gd name="adj" fmla="val 50000"/>
            </a:avLst>
          </a:prstGeom>
          <a:solidFill>
            <a:schemeClr val="accent6"/>
          </a:solidFill>
          <a:ln w="12700">
            <a:solidFill>
              <a:schemeClr val="accent4"/>
            </a:solidFill>
            <a:prstDash val="solid"/>
          </a:ln>
        </p:spPr>
        <p:txBody>
          <a:bodyPr/>
          <a:lstStyle/>
          <a:p>
            <a:endParaRPr lang="ro-RO"/>
          </a:p>
        </p:txBody>
      </p:sp>
      <p:sp>
        <p:nvSpPr>
          <p:cNvPr id="12" name="xp-fill-66"/>
          <p:cNvSpPr/>
          <p:nvPr/>
        </p:nvSpPr>
        <p:spPr>
          <a:xfrm>
            <a:off x="914400" y="5120640"/>
            <a:ext cx="4256532" cy="201168"/>
          </a:xfrm>
          <a:prstGeom prst="roundRect">
            <a:avLst>
              <a:gd name="adj" fmla="val 50000"/>
            </a:avLst>
          </a:prstGeom>
          <a:solidFill>
            <a:schemeClr val="accent1"/>
          </a:solidFill>
          <a:ln w="12700">
            <a:solidFill>
              <a:schemeClr val="accent1"/>
            </a:solidFill>
            <a:prstDash val="solid"/>
          </a:ln>
        </p:spPr>
        <p:txBody>
          <a:bodyPr/>
          <a:lstStyle/>
          <a:p>
            <a:endParaRPr lang="ro-RO"/>
          </a:p>
        </p:txBody>
      </p:sp>
      <p:sp>
        <p:nvSpPr>
          <p:cNvPr id="13" name="text-67"/>
          <p:cNvSpPr txBox="1"/>
          <p:nvPr/>
        </p:nvSpPr>
        <p:spPr>
          <a:xfrm>
            <a:off x="914400" y="5440680"/>
            <a:ext cx="4480560" cy="274320"/>
          </a:xfrm>
          <a:prstGeom prst="rect">
            <a:avLst/>
          </a:prstGeom>
          <a:noFill/>
          <a:ln/>
        </p:spPr>
        <p:txBody>
          <a:bodyPr wrap="square" lIns="0" tIns="0" rIns="0" bIns="0" rtlCol="0" anchor="t"/>
          <a:lstStyle/>
          <a:p>
            <a:pPr marL="0" indent="0">
              <a:buNone/>
            </a:pPr>
            <a:r>
              <a:rPr lang="en-US" sz="1200" dirty="0">
                <a:solidFill>
                  <a:schemeClr val="accent2"/>
                </a:solidFill>
              </a:rPr>
              <a:t>Next upgrade: good groceries</a:t>
            </a:r>
            <a:endParaRPr lang="en-US" sz="1200" dirty="0"/>
          </a:p>
        </p:txBody>
      </p:sp>
      <p:sp>
        <p:nvSpPr>
          <p:cNvPr id="14" name="text-68"/>
          <p:cNvSpPr txBox="1"/>
          <p:nvPr/>
        </p:nvSpPr>
        <p:spPr>
          <a:xfrm>
            <a:off x="6355080" y="1874520"/>
            <a:ext cx="5303520" cy="274320"/>
          </a:xfrm>
          <a:prstGeom prst="rect">
            <a:avLst/>
          </a:prstGeom>
          <a:noFill/>
          <a:ln/>
        </p:spPr>
        <p:txBody>
          <a:bodyPr wrap="square" lIns="0" tIns="0" rIns="0" bIns="0" rtlCol="0" anchor="ctr"/>
          <a:lstStyle/>
          <a:p>
            <a:pPr marL="0" indent="0">
              <a:buNone/>
            </a:pPr>
            <a:r>
              <a:rPr lang="en-US" sz="1200" b="1" kern="0" spc="200" dirty="0">
                <a:solidFill>
                  <a:schemeClr val="accent2"/>
                </a:solidFill>
              </a:rPr>
              <a:t>5 TIERS  ×  4 UPGRADES  =  20 LEVELS</a:t>
            </a:r>
            <a:endParaRPr lang="en-US" sz="1200" dirty="0"/>
          </a:p>
        </p:txBody>
      </p:sp>
      <p:sp>
        <p:nvSpPr>
          <p:cNvPr id="15" name="step-69"/>
          <p:cNvSpPr/>
          <p:nvPr/>
        </p:nvSpPr>
        <p:spPr>
          <a:xfrm>
            <a:off x="6355080" y="4206240"/>
            <a:ext cx="914400" cy="777240"/>
          </a:xfrm>
          <a:prstGeom prst="roundRect">
            <a:avLst>
              <a:gd name="adj" fmla="val 11765"/>
            </a:avLst>
          </a:prstGeom>
          <a:solidFill>
            <a:schemeClr val="accent4"/>
          </a:solidFill>
          <a:ln w="12700">
            <a:solidFill>
              <a:schemeClr val="accent4"/>
            </a:solidFill>
            <a:prstDash val="solid"/>
          </a:ln>
        </p:spPr>
        <p:txBody>
          <a:bodyPr/>
          <a:lstStyle/>
          <a:p>
            <a:endParaRPr lang="ro-RO"/>
          </a:p>
        </p:txBody>
      </p:sp>
      <p:sp>
        <p:nvSpPr>
          <p:cNvPr id="16" name="text-70"/>
          <p:cNvSpPr txBox="1"/>
          <p:nvPr/>
        </p:nvSpPr>
        <p:spPr>
          <a:xfrm>
            <a:off x="6355080" y="4315968"/>
            <a:ext cx="914400" cy="457200"/>
          </a:xfrm>
          <a:prstGeom prst="rect">
            <a:avLst/>
          </a:prstGeom>
          <a:noFill/>
          <a:ln/>
        </p:spPr>
        <p:txBody>
          <a:bodyPr wrap="square" lIns="0" tIns="0" rIns="0" bIns="0" rtlCol="0" anchor="t"/>
          <a:lstStyle/>
          <a:p>
            <a:pPr marL="0" indent="0" algn="ctr">
              <a:buNone/>
            </a:pPr>
            <a:r>
              <a:rPr lang="en-US" sz="2400" b="1" dirty="0">
                <a:solidFill>
                  <a:schemeClr val="bg1"/>
                </a:solidFill>
              </a:rPr>
              <a:t>1</a:t>
            </a:r>
            <a:endParaRPr lang="en-US" sz="2400" dirty="0"/>
          </a:p>
        </p:txBody>
      </p:sp>
      <p:sp>
        <p:nvSpPr>
          <p:cNvPr id="17" name="text-71"/>
          <p:cNvSpPr txBox="1"/>
          <p:nvPr/>
        </p:nvSpPr>
        <p:spPr>
          <a:xfrm>
            <a:off x="6309360" y="5074920"/>
            <a:ext cx="1005840" cy="502920"/>
          </a:xfrm>
          <a:prstGeom prst="rect">
            <a:avLst/>
          </a:prstGeom>
          <a:noFill/>
          <a:ln/>
        </p:spPr>
        <p:txBody>
          <a:bodyPr wrap="square" lIns="0" tIns="0" rIns="0" bIns="0" rtlCol="0" anchor="t"/>
          <a:lstStyle/>
          <a:p>
            <a:pPr marL="0" indent="0" algn="ctr">
              <a:buNone/>
            </a:pPr>
            <a:r>
              <a:rPr lang="en-US" sz="1200" b="1" dirty="0">
                <a:solidFill>
                  <a:schemeClr val="accent2"/>
                </a:solidFill>
              </a:rPr>
              <a:t>Tent</a:t>
            </a:r>
            <a:endParaRPr lang="en-US" sz="1200" dirty="0"/>
          </a:p>
        </p:txBody>
      </p:sp>
      <p:sp>
        <p:nvSpPr>
          <p:cNvPr id="18" name="step-72"/>
          <p:cNvSpPr/>
          <p:nvPr/>
        </p:nvSpPr>
        <p:spPr>
          <a:xfrm>
            <a:off x="7452360" y="3749040"/>
            <a:ext cx="914400" cy="1234440"/>
          </a:xfrm>
          <a:prstGeom prst="roundRect">
            <a:avLst>
              <a:gd name="adj" fmla="val 10000"/>
            </a:avLst>
          </a:prstGeom>
          <a:solidFill>
            <a:schemeClr val="accent3"/>
          </a:solidFill>
          <a:ln w="12700">
            <a:solidFill>
              <a:schemeClr val="accent3"/>
            </a:solidFill>
            <a:prstDash val="solid"/>
          </a:ln>
        </p:spPr>
        <p:txBody>
          <a:bodyPr/>
          <a:lstStyle/>
          <a:p>
            <a:endParaRPr lang="ro-RO"/>
          </a:p>
        </p:txBody>
      </p:sp>
      <p:sp>
        <p:nvSpPr>
          <p:cNvPr id="19" name="text-73"/>
          <p:cNvSpPr txBox="1"/>
          <p:nvPr/>
        </p:nvSpPr>
        <p:spPr>
          <a:xfrm>
            <a:off x="7452360" y="3858768"/>
            <a:ext cx="914400" cy="457200"/>
          </a:xfrm>
          <a:prstGeom prst="rect">
            <a:avLst/>
          </a:prstGeom>
          <a:noFill/>
          <a:ln/>
        </p:spPr>
        <p:txBody>
          <a:bodyPr wrap="square" lIns="0" tIns="0" rIns="0" bIns="0" rtlCol="0" anchor="t"/>
          <a:lstStyle/>
          <a:p>
            <a:pPr marL="0" indent="0" algn="ctr">
              <a:buNone/>
            </a:pPr>
            <a:r>
              <a:rPr lang="en-US" sz="2400" b="1" dirty="0">
                <a:solidFill>
                  <a:schemeClr val="bg1"/>
                </a:solidFill>
              </a:rPr>
              <a:t>2</a:t>
            </a:r>
            <a:endParaRPr lang="en-US" sz="2400" dirty="0"/>
          </a:p>
        </p:txBody>
      </p:sp>
      <p:sp>
        <p:nvSpPr>
          <p:cNvPr id="20" name="text-74"/>
          <p:cNvSpPr txBox="1"/>
          <p:nvPr/>
        </p:nvSpPr>
        <p:spPr>
          <a:xfrm>
            <a:off x="7406640" y="5074920"/>
            <a:ext cx="1005840" cy="502920"/>
          </a:xfrm>
          <a:prstGeom prst="rect">
            <a:avLst/>
          </a:prstGeom>
          <a:noFill/>
          <a:ln/>
        </p:spPr>
        <p:txBody>
          <a:bodyPr wrap="square" lIns="0" tIns="0" rIns="0" bIns="0" rtlCol="0" anchor="t"/>
          <a:lstStyle/>
          <a:p>
            <a:pPr marL="0" indent="0" algn="ctr">
              <a:buNone/>
            </a:pPr>
            <a:r>
              <a:rPr lang="en-US" sz="1200" b="1" dirty="0">
                <a:solidFill>
                  <a:schemeClr val="accent2"/>
                </a:solidFill>
              </a:rPr>
              <a:t>Rented flat</a:t>
            </a:r>
            <a:endParaRPr lang="en-US" sz="1200" dirty="0"/>
          </a:p>
        </p:txBody>
      </p:sp>
      <p:sp>
        <p:nvSpPr>
          <p:cNvPr id="21" name="step-75"/>
          <p:cNvSpPr/>
          <p:nvPr/>
        </p:nvSpPr>
        <p:spPr>
          <a:xfrm>
            <a:off x="8549640" y="3291840"/>
            <a:ext cx="914400" cy="1691640"/>
          </a:xfrm>
          <a:prstGeom prst="roundRect">
            <a:avLst>
              <a:gd name="adj" fmla="val 10000"/>
            </a:avLst>
          </a:prstGeom>
          <a:solidFill>
            <a:schemeClr val="accent5"/>
          </a:solidFill>
          <a:ln w="12700">
            <a:solidFill>
              <a:schemeClr val="accent5"/>
            </a:solidFill>
            <a:prstDash val="solid"/>
          </a:ln>
        </p:spPr>
        <p:txBody>
          <a:bodyPr/>
          <a:lstStyle/>
          <a:p>
            <a:endParaRPr lang="ro-RO"/>
          </a:p>
        </p:txBody>
      </p:sp>
      <p:sp>
        <p:nvSpPr>
          <p:cNvPr id="22" name="text-76"/>
          <p:cNvSpPr txBox="1"/>
          <p:nvPr/>
        </p:nvSpPr>
        <p:spPr>
          <a:xfrm>
            <a:off x="8549640" y="3401568"/>
            <a:ext cx="914400" cy="457200"/>
          </a:xfrm>
          <a:prstGeom prst="rect">
            <a:avLst/>
          </a:prstGeom>
          <a:noFill/>
          <a:ln/>
        </p:spPr>
        <p:txBody>
          <a:bodyPr wrap="square" lIns="0" tIns="0" rIns="0" bIns="0" rtlCol="0" anchor="t"/>
          <a:lstStyle/>
          <a:p>
            <a:pPr marL="0" indent="0" algn="ctr">
              <a:buNone/>
            </a:pPr>
            <a:r>
              <a:rPr lang="en-US" sz="2400" b="1" dirty="0">
                <a:solidFill>
                  <a:schemeClr val="tx1"/>
                </a:solidFill>
              </a:rPr>
              <a:t>3</a:t>
            </a:r>
            <a:endParaRPr lang="en-US" sz="2400" dirty="0"/>
          </a:p>
        </p:txBody>
      </p:sp>
      <p:sp>
        <p:nvSpPr>
          <p:cNvPr id="23" name="text-77"/>
          <p:cNvSpPr txBox="1"/>
          <p:nvPr/>
        </p:nvSpPr>
        <p:spPr>
          <a:xfrm>
            <a:off x="8503920" y="5074920"/>
            <a:ext cx="1005840" cy="502920"/>
          </a:xfrm>
          <a:prstGeom prst="rect">
            <a:avLst/>
          </a:prstGeom>
          <a:noFill/>
          <a:ln/>
        </p:spPr>
        <p:txBody>
          <a:bodyPr wrap="square" lIns="0" tIns="0" rIns="0" bIns="0" rtlCol="0" anchor="t"/>
          <a:lstStyle/>
          <a:p>
            <a:pPr marL="0" indent="0" algn="ctr">
              <a:buNone/>
            </a:pPr>
            <a:r>
              <a:rPr lang="en-US" sz="1200" b="1" dirty="0">
                <a:solidFill>
                  <a:schemeClr val="accent2"/>
                </a:solidFill>
              </a:rPr>
              <a:t>Family house</a:t>
            </a:r>
            <a:endParaRPr lang="en-US" sz="1200" dirty="0"/>
          </a:p>
        </p:txBody>
      </p:sp>
      <p:sp>
        <p:nvSpPr>
          <p:cNvPr id="24" name="step-78"/>
          <p:cNvSpPr/>
          <p:nvPr/>
        </p:nvSpPr>
        <p:spPr>
          <a:xfrm>
            <a:off x="9646920" y="2834640"/>
            <a:ext cx="914400" cy="2148840"/>
          </a:xfrm>
          <a:prstGeom prst="roundRect">
            <a:avLst>
              <a:gd name="adj" fmla="val 10000"/>
            </a:avLst>
          </a:prstGeom>
          <a:solidFill>
            <a:schemeClr val="accent1"/>
          </a:solidFill>
          <a:ln w="12700">
            <a:solidFill>
              <a:schemeClr val="accent1"/>
            </a:solidFill>
            <a:prstDash val="solid"/>
          </a:ln>
        </p:spPr>
        <p:txBody>
          <a:bodyPr/>
          <a:lstStyle/>
          <a:p>
            <a:endParaRPr lang="ro-RO"/>
          </a:p>
        </p:txBody>
      </p:sp>
      <p:sp>
        <p:nvSpPr>
          <p:cNvPr id="25" name="text-79"/>
          <p:cNvSpPr txBox="1"/>
          <p:nvPr/>
        </p:nvSpPr>
        <p:spPr>
          <a:xfrm>
            <a:off x="9646920" y="2944368"/>
            <a:ext cx="914400" cy="457200"/>
          </a:xfrm>
          <a:prstGeom prst="rect">
            <a:avLst/>
          </a:prstGeom>
          <a:noFill/>
          <a:ln/>
        </p:spPr>
        <p:txBody>
          <a:bodyPr wrap="square" lIns="0" tIns="0" rIns="0" bIns="0" rtlCol="0" anchor="t"/>
          <a:lstStyle/>
          <a:p>
            <a:pPr marL="0" indent="0" algn="ctr">
              <a:buNone/>
            </a:pPr>
            <a:r>
              <a:rPr lang="en-US" sz="2400" b="1" dirty="0">
                <a:solidFill>
                  <a:schemeClr val="bg1"/>
                </a:solidFill>
              </a:rPr>
              <a:t>4</a:t>
            </a:r>
            <a:endParaRPr lang="en-US" sz="2400" dirty="0"/>
          </a:p>
        </p:txBody>
      </p:sp>
      <p:sp>
        <p:nvSpPr>
          <p:cNvPr id="26" name="text-80"/>
          <p:cNvSpPr txBox="1"/>
          <p:nvPr/>
        </p:nvSpPr>
        <p:spPr>
          <a:xfrm>
            <a:off x="9601200" y="5074920"/>
            <a:ext cx="1005840" cy="502920"/>
          </a:xfrm>
          <a:prstGeom prst="rect">
            <a:avLst/>
          </a:prstGeom>
          <a:noFill/>
          <a:ln/>
        </p:spPr>
        <p:txBody>
          <a:bodyPr wrap="square" lIns="0" tIns="0" rIns="0" bIns="0" rtlCol="0" anchor="t"/>
          <a:lstStyle/>
          <a:p>
            <a:pPr marL="0" indent="0" algn="ctr">
              <a:buNone/>
            </a:pPr>
            <a:r>
              <a:rPr lang="en-US" sz="1200" b="1" dirty="0">
                <a:solidFill>
                  <a:schemeClr val="accent2"/>
                </a:solidFill>
              </a:rPr>
              <a:t>Modern house</a:t>
            </a:r>
            <a:endParaRPr lang="en-US" sz="1200" dirty="0"/>
          </a:p>
        </p:txBody>
      </p:sp>
      <p:sp>
        <p:nvSpPr>
          <p:cNvPr id="27" name="step-81"/>
          <p:cNvSpPr/>
          <p:nvPr/>
        </p:nvSpPr>
        <p:spPr>
          <a:xfrm>
            <a:off x="10744200" y="2377440"/>
            <a:ext cx="914400" cy="2606040"/>
          </a:xfrm>
          <a:prstGeom prst="roundRect">
            <a:avLst>
              <a:gd name="adj" fmla="val 10000"/>
            </a:avLst>
          </a:prstGeom>
          <a:solidFill>
            <a:schemeClr val="bg1"/>
          </a:solidFill>
          <a:ln w="12700">
            <a:solidFill>
              <a:schemeClr val="bg1"/>
            </a:solidFill>
            <a:prstDash val="solid"/>
          </a:ln>
        </p:spPr>
        <p:txBody>
          <a:bodyPr/>
          <a:lstStyle/>
          <a:p>
            <a:endParaRPr lang="ro-RO"/>
          </a:p>
        </p:txBody>
      </p:sp>
      <p:sp>
        <p:nvSpPr>
          <p:cNvPr id="28" name="text-82"/>
          <p:cNvSpPr txBox="1"/>
          <p:nvPr/>
        </p:nvSpPr>
        <p:spPr>
          <a:xfrm>
            <a:off x="10744200" y="2487168"/>
            <a:ext cx="914400" cy="457200"/>
          </a:xfrm>
          <a:prstGeom prst="rect">
            <a:avLst/>
          </a:prstGeom>
          <a:noFill/>
          <a:ln/>
        </p:spPr>
        <p:txBody>
          <a:bodyPr wrap="square" lIns="0" tIns="0" rIns="0" bIns="0" rtlCol="0" anchor="t"/>
          <a:lstStyle/>
          <a:p>
            <a:pPr marL="0" indent="0" algn="ctr">
              <a:buNone/>
            </a:pPr>
            <a:r>
              <a:rPr lang="en-US" sz="2400" b="1" dirty="0">
                <a:solidFill>
                  <a:schemeClr val="tx1"/>
                </a:solidFill>
              </a:rPr>
              <a:t>5</a:t>
            </a:r>
            <a:endParaRPr lang="en-US" sz="2400" dirty="0"/>
          </a:p>
        </p:txBody>
      </p:sp>
      <p:sp>
        <p:nvSpPr>
          <p:cNvPr id="29" name="text-83"/>
          <p:cNvSpPr txBox="1"/>
          <p:nvPr/>
        </p:nvSpPr>
        <p:spPr>
          <a:xfrm>
            <a:off x="10698480" y="5074920"/>
            <a:ext cx="1005840" cy="502920"/>
          </a:xfrm>
          <a:prstGeom prst="rect">
            <a:avLst/>
          </a:prstGeom>
          <a:noFill/>
          <a:ln/>
        </p:spPr>
        <p:txBody>
          <a:bodyPr wrap="square" lIns="0" tIns="0" rIns="0" bIns="0" rtlCol="0" anchor="t"/>
          <a:lstStyle/>
          <a:p>
            <a:pPr marL="0" indent="0" algn="ctr">
              <a:buNone/>
            </a:pPr>
            <a:r>
              <a:rPr lang="en-US" sz="1200" b="1" dirty="0">
                <a:solidFill>
                  <a:schemeClr val="accent2"/>
                </a:solidFill>
              </a:rPr>
              <a:t>Villa</a:t>
            </a:r>
            <a:endParaRPr lang="en-US" sz="1200" dirty="0"/>
          </a:p>
        </p:txBody>
      </p:sp>
      <p:sp>
        <p:nvSpPr>
          <p:cNvPr id="30" name="text-84"/>
          <p:cNvSpPr txBox="1"/>
          <p:nvPr/>
        </p:nvSpPr>
        <p:spPr>
          <a:xfrm>
            <a:off x="6355080" y="5577840"/>
            <a:ext cx="5303520" cy="320040"/>
          </a:xfrm>
          <a:prstGeom prst="rect">
            <a:avLst/>
          </a:prstGeom>
          <a:noFill/>
          <a:ln/>
        </p:spPr>
        <p:txBody>
          <a:bodyPr wrap="square" lIns="0" tIns="0" rIns="0" bIns="0" rtlCol="0" anchor="t"/>
          <a:lstStyle/>
          <a:p>
            <a:pPr marL="0" indent="0">
              <a:buNone/>
            </a:pPr>
            <a:r>
              <a:rPr lang="en-US" sz="1400" dirty="0">
                <a:solidFill>
                  <a:schemeClr val="bg1"/>
                </a:solidFill>
              </a:rPr>
              <a:t>Each level upgrades one thing:  home  →  transport  →  food  →  extras</a:t>
            </a:r>
            <a:endParaRPr lang="en-US" sz="1400" dirty="0"/>
          </a:p>
        </p:txBody>
      </p:sp>
      <p:sp>
        <p:nvSpPr>
          <p:cNvPr id="31"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85"/>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ARCHITECTURE</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How it fits together</a:t>
            </a:r>
            <a:endParaRPr lang="en-US" sz="3600" dirty="0"/>
          </a:p>
        </p:txBody>
      </p:sp>
      <p:sp>
        <p:nvSpPr>
          <p:cNvPr id="4" name="text-86"/>
          <p:cNvSpPr txBox="1"/>
          <p:nvPr/>
        </p:nvSpPr>
        <p:spPr>
          <a:xfrm>
            <a:off x="548640" y="1600200"/>
            <a:ext cx="32004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CLIENT</a:t>
            </a:r>
            <a:endParaRPr lang="en-US" sz="1200" dirty="0"/>
          </a:p>
        </p:txBody>
      </p:sp>
      <p:sp>
        <p:nvSpPr>
          <p:cNvPr id="5" name="card-87"/>
          <p:cNvSpPr/>
          <p:nvPr/>
        </p:nvSpPr>
        <p:spPr>
          <a:xfrm>
            <a:off x="548640" y="201168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6" name="icon-circle-88"/>
          <p:cNvSpPr/>
          <p:nvPr/>
        </p:nvSpPr>
        <p:spPr>
          <a:xfrm>
            <a:off x="777240" y="233172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7" name="icon-89" descr="MobileAlt icon"/>
          <p:cNvPicPr>
            <a:picLocks noChangeAspect="1"/>
          </p:cNvPicPr>
          <p:nvPr/>
        </p:nvPicPr>
        <p:blipFill>
          <a:blip r:embed="rId3"/>
          <a:stretch>
            <a:fillRect/>
          </a:stretch>
        </p:blipFill>
        <p:spPr>
          <a:xfrm>
            <a:off x="925373" y="2479853"/>
            <a:ext cx="252374" cy="252374"/>
          </a:xfrm>
          <a:prstGeom prst="rect">
            <a:avLst/>
          </a:prstGeom>
        </p:spPr>
      </p:pic>
      <p:sp>
        <p:nvSpPr>
          <p:cNvPr id="8" name="text-90"/>
          <p:cNvSpPr txBox="1"/>
          <p:nvPr/>
        </p:nvSpPr>
        <p:spPr>
          <a:xfrm>
            <a:off x="1554480" y="2212848"/>
            <a:ext cx="2057400" cy="320040"/>
          </a:xfrm>
          <a:prstGeom prst="rect">
            <a:avLst/>
          </a:prstGeom>
          <a:noFill/>
          <a:ln/>
        </p:spPr>
        <p:txBody>
          <a:bodyPr wrap="square" lIns="0" tIns="0" rIns="0" bIns="0" rtlCol="0" anchor="t"/>
          <a:lstStyle/>
          <a:p>
            <a:pPr marL="0" indent="0">
              <a:buNone/>
            </a:pPr>
            <a:r>
              <a:rPr lang="en-US" sz="1700" b="1" dirty="0">
                <a:solidFill>
                  <a:schemeClr val="bg1"/>
                </a:solidFill>
              </a:rPr>
              <a:t>Phone-first UI</a:t>
            </a:r>
            <a:endParaRPr lang="en-US" sz="1700" dirty="0"/>
          </a:p>
        </p:txBody>
      </p:sp>
      <p:sp>
        <p:nvSpPr>
          <p:cNvPr id="9" name="text-91"/>
          <p:cNvSpPr txBox="1"/>
          <p:nvPr/>
        </p:nvSpPr>
        <p:spPr>
          <a:xfrm>
            <a:off x="1554480" y="257860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React 19 · Tailwind · shadcn</a:t>
            </a:r>
            <a:endParaRPr lang="en-US" sz="1300" dirty="0"/>
          </a:p>
        </p:txBody>
      </p:sp>
      <p:sp>
        <p:nvSpPr>
          <p:cNvPr id="10" name="card-92"/>
          <p:cNvSpPr/>
          <p:nvPr/>
        </p:nvSpPr>
        <p:spPr>
          <a:xfrm>
            <a:off x="548640" y="342900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11" name="icon-circle-93"/>
          <p:cNvSpPr/>
          <p:nvPr/>
        </p:nvSpPr>
        <p:spPr>
          <a:xfrm>
            <a:off x="777240" y="374904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12" name="icon-94" descr="Cube icon"/>
          <p:cNvPicPr>
            <a:picLocks noChangeAspect="1"/>
          </p:cNvPicPr>
          <p:nvPr/>
        </p:nvPicPr>
        <p:blipFill>
          <a:blip r:embed="rId4"/>
          <a:stretch>
            <a:fillRect/>
          </a:stretch>
        </p:blipFill>
        <p:spPr>
          <a:xfrm>
            <a:off x="925373" y="3897173"/>
            <a:ext cx="252374" cy="252374"/>
          </a:xfrm>
          <a:prstGeom prst="rect">
            <a:avLst/>
          </a:prstGeom>
        </p:spPr>
      </p:pic>
      <p:sp>
        <p:nvSpPr>
          <p:cNvPr id="13" name="text-95"/>
          <p:cNvSpPr txBox="1"/>
          <p:nvPr/>
        </p:nvSpPr>
        <p:spPr>
          <a:xfrm>
            <a:off x="1554480" y="3630168"/>
            <a:ext cx="2057400" cy="320040"/>
          </a:xfrm>
          <a:prstGeom prst="rect">
            <a:avLst/>
          </a:prstGeom>
          <a:noFill/>
          <a:ln/>
        </p:spPr>
        <p:txBody>
          <a:bodyPr wrap="square" lIns="0" tIns="0" rIns="0" bIns="0" rtlCol="0" anchor="t"/>
          <a:lstStyle/>
          <a:p>
            <a:pPr marL="0" indent="0">
              <a:buNone/>
            </a:pPr>
            <a:r>
              <a:rPr lang="en-US" sz="1700" b="1" dirty="0">
                <a:solidFill>
                  <a:schemeClr val="bg1"/>
                </a:solidFill>
              </a:rPr>
              <a:t>3D island</a:t>
            </a:r>
            <a:endParaRPr lang="en-US" sz="1700" dirty="0"/>
          </a:p>
        </p:txBody>
      </p:sp>
      <p:sp>
        <p:nvSpPr>
          <p:cNvPr id="14" name="text-96"/>
          <p:cNvSpPr txBox="1"/>
          <p:nvPr/>
        </p:nvSpPr>
        <p:spPr>
          <a:xfrm>
            <a:off x="1554480" y="399592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three.js · react-three-fiber</a:t>
            </a:r>
            <a:endParaRPr lang="en-US" sz="1300" dirty="0"/>
          </a:p>
        </p:txBody>
      </p:sp>
      <p:sp>
        <p:nvSpPr>
          <p:cNvPr id="15" name="card-97"/>
          <p:cNvSpPr/>
          <p:nvPr/>
        </p:nvSpPr>
        <p:spPr>
          <a:xfrm>
            <a:off x="548640" y="484632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16" name="icon-circle-98"/>
          <p:cNvSpPr/>
          <p:nvPr/>
        </p:nvSpPr>
        <p:spPr>
          <a:xfrm>
            <a:off x="777240" y="516636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17" name="icon-99" descr="ShareAlt icon"/>
          <p:cNvPicPr>
            <a:picLocks noChangeAspect="1"/>
          </p:cNvPicPr>
          <p:nvPr/>
        </p:nvPicPr>
        <p:blipFill>
          <a:blip r:embed="rId5"/>
          <a:stretch>
            <a:fillRect/>
          </a:stretch>
        </p:blipFill>
        <p:spPr>
          <a:xfrm>
            <a:off x="925373" y="5314493"/>
            <a:ext cx="252374" cy="252374"/>
          </a:xfrm>
          <a:prstGeom prst="rect">
            <a:avLst/>
          </a:prstGeom>
        </p:spPr>
      </p:pic>
      <p:sp>
        <p:nvSpPr>
          <p:cNvPr id="18" name="text-100"/>
          <p:cNvSpPr txBox="1"/>
          <p:nvPr/>
        </p:nvSpPr>
        <p:spPr>
          <a:xfrm>
            <a:off x="1554480" y="5047488"/>
            <a:ext cx="2057400" cy="320040"/>
          </a:xfrm>
          <a:prstGeom prst="rect">
            <a:avLst/>
          </a:prstGeom>
          <a:noFill/>
          <a:ln/>
        </p:spPr>
        <p:txBody>
          <a:bodyPr wrap="square" lIns="0" tIns="0" rIns="0" bIns="0" rtlCol="0" anchor="t"/>
          <a:lstStyle/>
          <a:p>
            <a:pPr marL="0" indent="0">
              <a:buNone/>
            </a:pPr>
            <a:r>
              <a:rPr lang="en-US" sz="1700" b="1" dirty="0">
                <a:solidFill>
                  <a:schemeClr val="bg1"/>
                </a:solidFill>
              </a:rPr>
              <a:t>Onboarding &amp; sharing</a:t>
            </a:r>
            <a:endParaRPr lang="en-US" sz="1700" dirty="0"/>
          </a:p>
        </p:txBody>
      </p:sp>
      <p:sp>
        <p:nvSpPr>
          <p:cNvPr id="19" name="text-101"/>
          <p:cNvSpPr txBox="1"/>
          <p:nvPr/>
        </p:nvSpPr>
        <p:spPr>
          <a:xfrm>
            <a:off x="1554480" y="541324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PDF upload · public island link</a:t>
            </a:r>
            <a:endParaRPr lang="en-US" sz="1300" dirty="0"/>
          </a:p>
        </p:txBody>
      </p:sp>
      <p:sp>
        <p:nvSpPr>
          <p:cNvPr id="20" name="text-102"/>
          <p:cNvSpPr txBox="1"/>
          <p:nvPr/>
        </p:nvSpPr>
        <p:spPr>
          <a:xfrm>
            <a:off x="4480560" y="1600200"/>
            <a:ext cx="32004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SERVER  ·  NEXT.JS</a:t>
            </a:r>
            <a:endParaRPr lang="en-US" sz="1200" dirty="0"/>
          </a:p>
        </p:txBody>
      </p:sp>
      <p:sp>
        <p:nvSpPr>
          <p:cNvPr id="21" name="card-103"/>
          <p:cNvSpPr/>
          <p:nvPr/>
        </p:nvSpPr>
        <p:spPr>
          <a:xfrm>
            <a:off x="4480560" y="201168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22" name="icon-circle-104"/>
          <p:cNvSpPr/>
          <p:nvPr/>
        </p:nvSpPr>
        <p:spPr>
          <a:xfrm>
            <a:off x="4709160" y="233172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23" name="icon-105" descr="Server icon"/>
          <p:cNvPicPr>
            <a:picLocks noChangeAspect="1"/>
          </p:cNvPicPr>
          <p:nvPr/>
        </p:nvPicPr>
        <p:blipFill>
          <a:blip r:embed="rId6"/>
          <a:stretch>
            <a:fillRect/>
          </a:stretch>
        </p:blipFill>
        <p:spPr>
          <a:xfrm>
            <a:off x="4857293" y="2479853"/>
            <a:ext cx="252374" cy="252374"/>
          </a:xfrm>
          <a:prstGeom prst="rect">
            <a:avLst/>
          </a:prstGeom>
        </p:spPr>
      </p:pic>
      <p:sp>
        <p:nvSpPr>
          <p:cNvPr id="24" name="text-106"/>
          <p:cNvSpPr txBox="1"/>
          <p:nvPr/>
        </p:nvSpPr>
        <p:spPr>
          <a:xfrm>
            <a:off x="5486400" y="2212848"/>
            <a:ext cx="2057400" cy="320040"/>
          </a:xfrm>
          <a:prstGeom prst="rect">
            <a:avLst/>
          </a:prstGeom>
          <a:noFill/>
          <a:ln/>
        </p:spPr>
        <p:txBody>
          <a:bodyPr wrap="square" lIns="0" tIns="0" rIns="0" bIns="0" rtlCol="0" anchor="t"/>
          <a:lstStyle/>
          <a:p>
            <a:pPr marL="0" indent="0">
              <a:buNone/>
            </a:pPr>
            <a:r>
              <a:rPr lang="en-US" sz="1700" b="1" dirty="0">
                <a:solidFill>
                  <a:schemeClr val="bg1"/>
                </a:solidFill>
              </a:rPr>
              <a:t>Server actions</a:t>
            </a:r>
            <a:endParaRPr lang="en-US" sz="1700" dirty="0"/>
          </a:p>
        </p:txBody>
      </p:sp>
      <p:sp>
        <p:nvSpPr>
          <p:cNvPr id="25" name="text-107"/>
          <p:cNvSpPr txBox="1"/>
          <p:nvPr/>
        </p:nvSpPr>
        <p:spPr>
          <a:xfrm>
            <a:off x="5486400" y="257860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Session refresh and route guard</a:t>
            </a:r>
            <a:endParaRPr lang="en-US" sz="1300" dirty="0"/>
          </a:p>
        </p:txBody>
      </p:sp>
      <p:sp>
        <p:nvSpPr>
          <p:cNvPr id="26" name="card-108"/>
          <p:cNvSpPr/>
          <p:nvPr/>
        </p:nvSpPr>
        <p:spPr>
          <a:xfrm>
            <a:off x="4480560" y="342900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27" name="icon-circle-109"/>
          <p:cNvSpPr/>
          <p:nvPr/>
        </p:nvSpPr>
        <p:spPr>
          <a:xfrm>
            <a:off x="4709160" y="374904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28" name="icon-110" descr="Calculator icon"/>
          <p:cNvPicPr>
            <a:picLocks noChangeAspect="1"/>
          </p:cNvPicPr>
          <p:nvPr/>
        </p:nvPicPr>
        <p:blipFill>
          <a:blip r:embed="rId7"/>
          <a:stretch>
            <a:fillRect/>
          </a:stretch>
        </p:blipFill>
        <p:spPr>
          <a:xfrm>
            <a:off x="4857293" y="3897173"/>
            <a:ext cx="252374" cy="252374"/>
          </a:xfrm>
          <a:prstGeom prst="rect">
            <a:avLst/>
          </a:prstGeom>
        </p:spPr>
      </p:pic>
      <p:sp>
        <p:nvSpPr>
          <p:cNvPr id="29" name="text-111"/>
          <p:cNvSpPr txBox="1"/>
          <p:nvPr/>
        </p:nvSpPr>
        <p:spPr>
          <a:xfrm>
            <a:off x="5486400" y="3630168"/>
            <a:ext cx="2057400" cy="320040"/>
          </a:xfrm>
          <a:prstGeom prst="rect">
            <a:avLst/>
          </a:prstGeom>
          <a:noFill/>
          <a:ln/>
        </p:spPr>
        <p:txBody>
          <a:bodyPr wrap="square" lIns="0" tIns="0" rIns="0" bIns="0" rtlCol="0" anchor="t"/>
          <a:lstStyle/>
          <a:p>
            <a:pPr marL="0" indent="0">
              <a:buNone/>
            </a:pPr>
            <a:r>
              <a:rPr lang="en-US" sz="1700" b="1" dirty="0">
                <a:solidFill>
                  <a:schemeClr val="bg1"/>
                </a:solidFill>
              </a:rPr>
              <a:t>Rules engine</a:t>
            </a:r>
            <a:endParaRPr lang="en-US" sz="1700" dirty="0"/>
          </a:p>
        </p:txBody>
      </p:sp>
      <p:sp>
        <p:nvSpPr>
          <p:cNvPr id="30" name="text-112"/>
          <p:cNvSpPr txBox="1"/>
          <p:nvPr/>
        </p:nvSpPr>
        <p:spPr>
          <a:xfrm>
            <a:off x="5486400" y="399592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Pure TypeScript · integer money</a:t>
            </a:r>
            <a:endParaRPr lang="en-US" sz="1300" dirty="0"/>
          </a:p>
        </p:txBody>
      </p:sp>
      <p:sp>
        <p:nvSpPr>
          <p:cNvPr id="31" name="card-113"/>
          <p:cNvSpPr/>
          <p:nvPr/>
        </p:nvSpPr>
        <p:spPr>
          <a:xfrm>
            <a:off x="4480560" y="484632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32" name="icon-circle-114"/>
          <p:cNvSpPr/>
          <p:nvPr/>
        </p:nvSpPr>
        <p:spPr>
          <a:xfrm>
            <a:off x="4709160" y="516636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33" name="icon-115" descr="Cogs icon"/>
          <p:cNvPicPr>
            <a:picLocks noChangeAspect="1"/>
          </p:cNvPicPr>
          <p:nvPr/>
        </p:nvPicPr>
        <p:blipFill>
          <a:blip r:embed="rId8"/>
          <a:stretch>
            <a:fillRect/>
          </a:stretch>
        </p:blipFill>
        <p:spPr>
          <a:xfrm>
            <a:off x="4857293" y="5314493"/>
            <a:ext cx="252374" cy="252374"/>
          </a:xfrm>
          <a:prstGeom prst="rect">
            <a:avLst/>
          </a:prstGeom>
        </p:spPr>
      </p:pic>
      <p:sp>
        <p:nvSpPr>
          <p:cNvPr id="34" name="text-116"/>
          <p:cNvSpPr txBox="1"/>
          <p:nvPr/>
        </p:nvSpPr>
        <p:spPr>
          <a:xfrm>
            <a:off x="5486400" y="5047488"/>
            <a:ext cx="2057400" cy="320040"/>
          </a:xfrm>
          <a:prstGeom prst="rect">
            <a:avLst/>
          </a:prstGeom>
          <a:noFill/>
          <a:ln/>
        </p:spPr>
        <p:txBody>
          <a:bodyPr wrap="square" lIns="0" tIns="0" rIns="0" bIns="0" rtlCol="0" anchor="t"/>
          <a:lstStyle/>
          <a:p>
            <a:pPr marL="0" indent="0">
              <a:buNone/>
            </a:pPr>
            <a:r>
              <a:rPr lang="en-US" sz="1700" b="1" dirty="0">
                <a:solidFill>
                  <a:schemeClr val="bg1"/>
                </a:solidFill>
              </a:rPr>
              <a:t>Money flow</a:t>
            </a:r>
            <a:endParaRPr lang="en-US" sz="1700" dirty="0"/>
          </a:p>
        </p:txBody>
      </p:sp>
      <p:sp>
        <p:nvSpPr>
          <p:cNvPr id="35" name="text-117"/>
          <p:cNvSpPr txBox="1"/>
          <p:nvPr/>
        </p:nvSpPr>
        <p:spPr>
          <a:xfrm>
            <a:off x="5486400" y="541324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offer → collect → invest</a:t>
            </a:r>
            <a:endParaRPr lang="en-US" sz="1300" dirty="0"/>
          </a:p>
        </p:txBody>
      </p:sp>
      <p:sp>
        <p:nvSpPr>
          <p:cNvPr id="36" name="text-118"/>
          <p:cNvSpPr txBox="1"/>
          <p:nvPr/>
        </p:nvSpPr>
        <p:spPr>
          <a:xfrm>
            <a:off x="8412480" y="1600200"/>
            <a:ext cx="32004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SERVICES</a:t>
            </a:r>
            <a:endParaRPr lang="en-US" sz="1200" dirty="0"/>
          </a:p>
        </p:txBody>
      </p:sp>
      <p:sp>
        <p:nvSpPr>
          <p:cNvPr id="37" name="card-119"/>
          <p:cNvSpPr/>
          <p:nvPr/>
        </p:nvSpPr>
        <p:spPr>
          <a:xfrm>
            <a:off x="8412480" y="201168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38" name="icon-circle-120"/>
          <p:cNvSpPr/>
          <p:nvPr/>
        </p:nvSpPr>
        <p:spPr>
          <a:xfrm>
            <a:off x="8641080" y="233172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39" name="icon-121" descr="Database icon"/>
          <p:cNvPicPr>
            <a:picLocks noChangeAspect="1"/>
          </p:cNvPicPr>
          <p:nvPr/>
        </p:nvPicPr>
        <p:blipFill>
          <a:blip r:embed="rId9"/>
          <a:stretch>
            <a:fillRect/>
          </a:stretch>
        </p:blipFill>
        <p:spPr>
          <a:xfrm>
            <a:off x="8789213" y="2479853"/>
            <a:ext cx="252374" cy="252374"/>
          </a:xfrm>
          <a:prstGeom prst="rect">
            <a:avLst/>
          </a:prstGeom>
        </p:spPr>
      </p:pic>
      <p:sp>
        <p:nvSpPr>
          <p:cNvPr id="40" name="text-122"/>
          <p:cNvSpPr txBox="1"/>
          <p:nvPr/>
        </p:nvSpPr>
        <p:spPr>
          <a:xfrm>
            <a:off x="9418320" y="2212848"/>
            <a:ext cx="2057400" cy="320040"/>
          </a:xfrm>
          <a:prstGeom prst="rect">
            <a:avLst/>
          </a:prstGeom>
          <a:noFill/>
          <a:ln/>
        </p:spPr>
        <p:txBody>
          <a:bodyPr wrap="square" lIns="0" tIns="0" rIns="0" bIns="0" rtlCol="0" anchor="t"/>
          <a:lstStyle/>
          <a:p>
            <a:pPr marL="0" indent="0">
              <a:buNone/>
            </a:pPr>
            <a:r>
              <a:rPr lang="en-US" sz="1700" b="1" dirty="0">
                <a:solidFill>
                  <a:schemeClr val="bg1"/>
                </a:solidFill>
              </a:rPr>
              <a:t>Supabase</a:t>
            </a:r>
            <a:endParaRPr lang="en-US" sz="1700" dirty="0"/>
          </a:p>
        </p:txBody>
      </p:sp>
      <p:sp>
        <p:nvSpPr>
          <p:cNvPr id="41" name="text-123"/>
          <p:cNvSpPr txBox="1"/>
          <p:nvPr/>
        </p:nvSpPr>
        <p:spPr>
          <a:xfrm>
            <a:off x="9418320" y="257860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Postgres · Auth · Storage · RLS</a:t>
            </a:r>
            <a:endParaRPr lang="en-US" sz="1300" dirty="0"/>
          </a:p>
        </p:txBody>
      </p:sp>
      <p:sp>
        <p:nvSpPr>
          <p:cNvPr id="42" name="card-124"/>
          <p:cNvSpPr/>
          <p:nvPr/>
        </p:nvSpPr>
        <p:spPr>
          <a:xfrm>
            <a:off x="8412480" y="342900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43" name="icon-circle-125"/>
          <p:cNvSpPr/>
          <p:nvPr/>
        </p:nvSpPr>
        <p:spPr>
          <a:xfrm>
            <a:off x="8641080" y="374904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44" name="icon-126" descr="Robot icon"/>
          <p:cNvPicPr>
            <a:picLocks noChangeAspect="1"/>
          </p:cNvPicPr>
          <p:nvPr/>
        </p:nvPicPr>
        <p:blipFill>
          <a:blip r:embed="rId10"/>
          <a:stretch>
            <a:fillRect/>
          </a:stretch>
        </p:blipFill>
        <p:spPr>
          <a:xfrm>
            <a:off x="8789213" y="3897173"/>
            <a:ext cx="252374" cy="252374"/>
          </a:xfrm>
          <a:prstGeom prst="rect">
            <a:avLst/>
          </a:prstGeom>
        </p:spPr>
      </p:pic>
      <p:sp>
        <p:nvSpPr>
          <p:cNvPr id="45" name="text-127"/>
          <p:cNvSpPr txBox="1"/>
          <p:nvPr/>
        </p:nvSpPr>
        <p:spPr>
          <a:xfrm>
            <a:off x="9418320" y="3630168"/>
            <a:ext cx="2057400" cy="320040"/>
          </a:xfrm>
          <a:prstGeom prst="rect">
            <a:avLst/>
          </a:prstGeom>
          <a:noFill/>
          <a:ln/>
        </p:spPr>
        <p:txBody>
          <a:bodyPr wrap="square" lIns="0" tIns="0" rIns="0" bIns="0" rtlCol="0" anchor="t"/>
          <a:lstStyle/>
          <a:p>
            <a:pPr marL="0" indent="0">
              <a:buNone/>
            </a:pPr>
            <a:r>
              <a:rPr lang="en-US" sz="1700" b="1" dirty="0">
                <a:solidFill>
                  <a:schemeClr val="bg1"/>
                </a:solidFill>
              </a:rPr>
              <a:t>Gemini API</a:t>
            </a:r>
          </a:p>
          <a:p>
            <a:pPr marL="0" indent="0">
              <a:buNone/>
            </a:pPr>
            <a:endParaRPr lang="en-US" sz="1700" dirty="0"/>
          </a:p>
        </p:txBody>
      </p:sp>
      <p:sp>
        <p:nvSpPr>
          <p:cNvPr id="46" name="text-128"/>
          <p:cNvSpPr txBox="1"/>
          <p:nvPr/>
        </p:nvSpPr>
        <p:spPr>
          <a:xfrm>
            <a:off x="9418320" y="399592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PDF reading · monthly message</a:t>
            </a:r>
            <a:endParaRPr lang="en-US" sz="1300" dirty="0"/>
          </a:p>
        </p:txBody>
      </p:sp>
      <p:sp>
        <p:nvSpPr>
          <p:cNvPr id="47" name="card-129"/>
          <p:cNvSpPr/>
          <p:nvPr/>
        </p:nvSpPr>
        <p:spPr>
          <a:xfrm>
            <a:off x="8412480" y="4846320"/>
            <a:ext cx="3200400" cy="1188720"/>
          </a:xfrm>
          <a:prstGeom prst="roundRect">
            <a:avLst>
              <a:gd name="adj" fmla="val 12308"/>
            </a:avLst>
          </a:prstGeom>
          <a:solidFill>
            <a:schemeClr val="tx2"/>
          </a:solidFill>
          <a:ln w="12700">
            <a:solidFill>
              <a:schemeClr val="accent4"/>
            </a:solidFill>
            <a:prstDash val="solid"/>
          </a:ln>
        </p:spPr>
        <p:txBody>
          <a:bodyPr/>
          <a:lstStyle/>
          <a:p>
            <a:endParaRPr lang="ro-RO"/>
          </a:p>
        </p:txBody>
      </p:sp>
      <p:sp>
        <p:nvSpPr>
          <p:cNvPr id="48" name="icon-circle-130"/>
          <p:cNvSpPr/>
          <p:nvPr/>
        </p:nvSpPr>
        <p:spPr>
          <a:xfrm>
            <a:off x="8641080" y="5166360"/>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49" name="icon-131" descr="Stripe icon"/>
          <p:cNvPicPr>
            <a:picLocks noChangeAspect="1"/>
          </p:cNvPicPr>
          <p:nvPr/>
        </p:nvPicPr>
        <p:blipFill>
          <a:blip r:embed="rId11"/>
          <a:stretch>
            <a:fillRect/>
          </a:stretch>
        </p:blipFill>
        <p:spPr>
          <a:xfrm>
            <a:off x="8789213" y="5314493"/>
            <a:ext cx="252374" cy="252374"/>
          </a:xfrm>
          <a:prstGeom prst="rect">
            <a:avLst/>
          </a:prstGeom>
        </p:spPr>
      </p:pic>
      <p:sp>
        <p:nvSpPr>
          <p:cNvPr id="50" name="text-132"/>
          <p:cNvSpPr txBox="1"/>
          <p:nvPr/>
        </p:nvSpPr>
        <p:spPr>
          <a:xfrm>
            <a:off x="9418320" y="5047488"/>
            <a:ext cx="2057400" cy="320040"/>
          </a:xfrm>
          <a:prstGeom prst="rect">
            <a:avLst/>
          </a:prstGeom>
          <a:noFill/>
          <a:ln/>
        </p:spPr>
        <p:txBody>
          <a:bodyPr wrap="square" lIns="0" tIns="0" rIns="0" bIns="0" rtlCol="0" anchor="t"/>
          <a:lstStyle/>
          <a:p>
            <a:pPr marL="0" indent="0">
              <a:buNone/>
            </a:pPr>
            <a:r>
              <a:rPr lang="en-US" sz="1700" b="1" dirty="0">
                <a:solidFill>
                  <a:schemeClr val="bg1"/>
                </a:solidFill>
              </a:rPr>
              <a:t>Stripe</a:t>
            </a:r>
            <a:endParaRPr lang="en-US" sz="1700" dirty="0"/>
          </a:p>
        </p:txBody>
      </p:sp>
      <p:sp>
        <p:nvSpPr>
          <p:cNvPr id="51" name="text-133"/>
          <p:cNvSpPr txBox="1"/>
          <p:nvPr/>
        </p:nvSpPr>
        <p:spPr>
          <a:xfrm>
            <a:off x="9418320" y="5413248"/>
            <a:ext cx="2057400" cy="548640"/>
          </a:xfrm>
          <a:prstGeom prst="rect">
            <a:avLst/>
          </a:prstGeom>
          <a:noFill/>
          <a:ln/>
        </p:spPr>
        <p:txBody>
          <a:bodyPr wrap="square" lIns="0" tIns="0" rIns="0" bIns="0" rtlCol="0" anchor="t"/>
          <a:lstStyle/>
          <a:p>
            <a:pPr marL="0" indent="0">
              <a:buNone/>
            </a:pPr>
            <a:r>
              <a:rPr lang="en-US" sz="1300" dirty="0">
                <a:solidFill>
                  <a:schemeClr val="accent2"/>
                </a:solidFill>
              </a:rPr>
              <a:t>Elements · payments · webhook</a:t>
            </a:r>
            <a:endParaRPr lang="en-US" sz="1300" dirty="0"/>
          </a:p>
        </p:txBody>
      </p:sp>
      <p:sp>
        <p:nvSpPr>
          <p:cNvPr id="52" name="arrow-134"/>
          <p:cNvSpPr/>
          <p:nvPr/>
        </p:nvSpPr>
        <p:spPr>
          <a:xfrm>
            <a:off x="3840480" y="2606040"/>
            <a:ext cx="548640" cy="0"/>
          </a:xfrm>
          <a:prstGeom prst="line">
            <a:avLst/>
          </a:prstGeom>
          <a:noFill/>
          <a:ln w="25400">
            <a:solidFill>
              <a:schemeClr val="accent2"/>
            </a:solidFill>
            <a:prstDash val="solid"/>
            <a:headEnd type="triangle"/>
            <a:tailEnd type="triangle"/>
          </a:ln>
        </p:spPr>
        <p:txBody>
          <a:bodyPr/>
          <a:lstStyle/>
          <a:p>
            <a:endParaRPr lang="ro-RO"/>
          </a:p>
        </p:txBody>
      </p:sp>
      <p:sp>
        <p:nvSpPr>
          <p:cNvPr id="53" name="arrow-135"/>
          <p:cNvSpPr/>
          <p:nvPr/>
        </p:nvSpPr>
        <p:spPr>
          <a:xfrm>
            <a:off x="7772400" y="2606040"/>
            <a:ext cx="548640" cy="0"/>
          </a:xfrm>
          <a:prstGeom prst="line">
            <a:avLst/>
          </a:prstGeom>
          <a:noFill/>
          <a:ln w="25400">
            <a:solidFill>
              <a:schemeClr val="accent2"/>
            </a:solidFill>
            <a:prstDash val="solid"/>
            <a:headEnd type="triangle"/>
            <a:tailEnd type="triangle"/>
          </a:ln>
        </p:spPr>
        <p:txBody>
          <a:bodyPr/>
          <a:lstStyle/>
          <a:p>
            <a:endParaRPr lang="ro-RO"/>
          </a:p>
        </p:txBody>
      </p:sp>
      <p:sp>
        <p:nvSpPr>
          <p:cNvPr id="54" name="arrow-136"/>
          <p:cNvSpPr/>
          <p:nvPr/>
        </p:nvSpPr>
        <p:spPr>
          <a:xfrm>
            <a:off x="3840480" y="4023360"/>
            <a:ext cx="548640" cy="0"/>
          </a:xfrm>
          <a:prstGeom prst="line">
            <a:avLst/>
          </a:prstGeom>
          <a:noFill/>
          <a:ln w="25400">
            <a:solidFill>
              <a:schemeClr val="accent2"/>
            </a:solidFill>
            <a:prstDash val="solid"/>
            <a:headEnd type="triangle"/>
            <a:tailEnd type="triangle"/>
          </a:ln>
        </p:spPr>
        <p:txBody>
          <a:bodyPr/>
          <a:lstStyle/>
          <a:p>
            <a:endParaRPr lang="ro-RO"/>
          </a:p>
        </p:txBody>
      </p:sp>
      <p:sp>
        <p:nvSpPr>
          <p:cNvPr id="55" name="arrow-137"/>
          <p:cNvSpPr/>
          <p:nvPr/>
        </p:nvSpPr>
        <p:spPr>
          <a:xfrm>
            <a:off x="7772400" y="4023360"/>
            <a:ext cx="548640" cy="0"/>
          </a:xfrm>
          <a:prstGeom prst="line">
            <a:avLst/>
          </a:prstGeom>
          <a:noFill/>
          <a:ln w="25400">
            <a:solidFill>
              <a:schemeClr val="accent2"/>
            </a:solidFill>
            <a:prstDash val="solid"/>
            <a:headEnd type="triangle"/>
            <a:tailEnd type="triangle"/>
          </a:ln>
        </p:spPr>
        <p:txBody>
          <a:bodyPr/>
          <a:lstStyle/>
          <a:p>
            <a:endParaRPr lang="ro-RO"/>
          </a:p>
        </p:txBody>
      </p:sp>
      <p:sp>
        <p:nvSpPr>
          <p:cNvPr id="56" name="arrow-138"/>
          <p:cNvSpPr/>
          <p:nvPr/>
        </p:nvSpPr>
        <p:spPr>
          <a:xfrm>
            <a:off x="3840480" y="5440680"/>
            <a:ext cx="548640" cy="0"/>
          </a:xfrm>
          <a:prstGeom prst="line">
            <a:avLst/>
          </a:prstGeom>
          <a:noFill/>
          <a:ln w="25400">
            <a:solidFill>
              <a:schemeClr val="accent2"/>
            </a:solidFill>
            <a:prstDash val="solid"/>
            <a:headEnd type="triangle"/>
            <a:tailEnd type="triangle"/>
          </a:ln>
        </p:spPr>
        <p:txBody>
          <a:bodyPr/>
          <a:lstStyle/>
          <a:p>
            <a:endParaRPr lang="ro-RO"/>
          </a:p>
        </p:txBody>
      </p:sp>
      <p:sp>
        <p:nvSpPr>
          <p:cNvPr id="57" name="arrow-139"/>
          <p:cNvSpPr/>
          <p:nvPr/>
        </p:nvSpPr>
        <p:spPr>
          <a:xfrm>
            <a:off x="7772400" y="5440680"/>
            <a:ext cx="548640" cy="0"/>
          </a:xfrm>
          <a:prstGeom prst="line">
            <a:avLst/>
          </a:prstGeom>
          <a:noFill/>
          <a:ln w="25400">
            <a:solidFill>
              <a:schemeClr val="accent2"/>
            </a:solidFill>
            <a:prstDash val="solid"/>
            <a:headEnd type="triangle"/>
            <a:tailEnd type="triangle"/>
          </a:ln>
        </p:spPr>
        <p:txBody>
          <a:bodyPr/>
          <a:lstStyle/>
          <a:p>
            <a:endParaRPr lang="ro-RO"/>
          </a:p>
        </p:txBody>
      </p:sp>
      <p:sp>
        <p:nvSpPr>
          <p:cNvPr id="58"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140"/>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THE ENGINE</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Numbers you can trust</a:t>
            </a:r>
            <a:endParaRPr lang="en-US" sz="3600" dirty="0"/>
          </a:p>
        </p:txBody>
      </p:sp>
      <p:sp>
        <p:nvSpPr>
          <p:cNvPr id="4" name="card-141"/>
          <p:cNvSpPr/>
          <p:nvPr/>
        </p:nvSpPr>
        <p:spPr>
          <a:xfrm>
            <a:off x="548640" y="1691640"/>
            <a:ext cx="5303520" cy="2743200"/>
          </a:xfrm>
          <a:prstGeom prst="roundRect">
            <a:avLst>
              <a:gd name="adj" fmla="val 5333"/>
            </a:avLst>
          </a:prstGeom>
          <a:solidFill>
            <a:schemeClr val="tx2"/>
          </a:solidFill>
          <a:ln w="12700">
            <a:solidFill>
              <a:schemeClr val="accent4"/>
            </a:solidFill>
            <a:prstDash val="solid"/>
          </a:ln>
        </p:spPr>
        <p:txBody>
          <a:bodyPr/>
          <a:lstStyle/>
          <a:p>
            <a:endParaRPr lang="ro-RO"/>
          </a:p>
        </p:txBody>
      </p:sp>
      <p:sp>
        <p:nvSpPr>
          <p:cNvPr id="5" name="icon-circle-142"/>
          <p:cNvSpPr/>
          <p:nvPr/>
        </p:nvSpPr>
        <p:spPr>
          <a:xfrm>
            <a:off x="868680" y="1920240"/>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6" name="icon-143" descr="Calculator icon"/>
          <p:cNvPicPr>
            <a:picLocks noChangeAspect="1"/>
          </p:cNvPicPr>
          <p:nvPr/>
        </p:nvPicPr>
        <p:blipFill>
          <a:blip r:embed="rId3"/>
          <a:stretch>
            <a:fillRect/>
          </a:stretch>
        </p:blipFill>
        <p:spPr>
          <a:xfrm>
            <a:off x="1041502" y="2093062"/>
            <a:ext cx="294437" cy="294437"/>
          </a:xfrm>
          <a:prstGeom prst="rect">
            <a:avLst/>
          </a:prstGeom>
        </p:spPr>
      </p:pic>
      <p:sp>
        <p:nvSpPr>
          <p:cNvPr id="7" name="text-144"/>
          <p:cNvSpPr txBox="1"/>
          <p:nvPr/>
        </p:nvSpPr>
        <p:spPr>
          <a:xfrm>
            <a:off x="1691640" y="1920240"/>
            <a:ext cx="3931920" cy="640080"/>
          </a:xfrm>
          <a:prstGeom prst="rect">
            <a:avLst/>
          </a:prstGeom>
          <a:noFill/>
          <a:ln/>
        </p:spPr>
        <p:txBody>
          <a:bodyPr wrap="square" lIns="0" tIns="0" rIns="0" bIns="0" rtlCol="0" anchor="ctr"/>
          <a:lstStyle/>
          <a:p>
            <a:pPr marL="0" indent="0">
              <a:buNone/>
            </a:pPr>
            <a:r>
              <a:rPr lang="en-US" sz="2200" b="1" dirty="0">
                <a:solidFill>
                  <a:schemeClr val="bg1"/>
                </a:solidFill>
              </a:rPr>
              <a:t>The rules engine decides</a:t>
            </a:r>
            <a:endParaRPr lang="en-US" sz="2200" dirty="0"/>
          </a:p>
        </p:txBody>
      </p:sp>
      <p:sp>
        <p:nvSpPr>
          <p:cNvPr id="8" name="bullets-145"/>
          <p:cNvSpPr txBox="1"/>
          <p:nvPr/>
        </p:nvSpPr>
        <p:spPr>
          <a:xfrm>
            <a:off x="914400" y="2788920"/>
            <a:ext cx="4572000" cy="15087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Pure, deterministic TypeScript</a:t>
            </a:r>
            <a:endParaRPr lang="en-US" sz="1600" dirty="0"/>
          </a:p>
          <a:p>
            <a:pPr marL="228600" indent="-228600">
              <a:spcAft>
                <a:spcPts val="800"/>
              </a:spcAft>
              <a:buSzPct val="100000"/>
              <a:buChar char="•"/>
            </a:pPr>
            <a:r>
              <a:rPr lang="en-US" sz="1600" dirty="0">
                <a:solidFill>
                  <a:schemeClr val="bg1"/>
                </a:solidFill>
              </a:rPr>
              <a:t>Money stored as exact integers: zero rounding errors</a:t>
            </a:r>
            <a:endParaRPr lang="en-US" sz="1600" dirty="0"/>
          </a:p>
          <a:p>
            <a:pPr marL="228600" indent="-228600">
              <a:spcAft>
                <a:spcPts val="800"/>
              </a:spcAft>
              <a:buSzPct val="100000"/>
              <a:buChar char="•"/>
            </a:pPr>
            <a:r>
              <a:rPr lang="en-US" sz="1600" dirty="0">
                <a:solidFill>
                  <a:schemeClr val="bg1"/>
                </a:solidFill>
              </a:rPr>
              <a:t>Every constant cites INS, BNR, CNPP or ASF</a:t>
            </a:r>
            <a:endParaRPr lang="en-US" sz="1600" dirty="0"/>
          </a:p>
          <a:p>
            <a:pPr marL="228600" indent="-228600">
              <a:spcAft>
                <a:spcPts val="800"/>
              </a:spcAft>
              <a:buSzPct val="100000"/>
              <a:buChar char="•"/>
            </a:pPr>
            <a:r>
              <a:rPr lang="en-US" sz="1600" dirty="0">
                <a:solidFill>
                  <a:schemeClr val="bg1"/>
                </a:solidFill>
              </a:rPr>
              <a:t>Projections come as ranges, never one promise</a:t>
            </a:r>
            <a:endParaRPr lang="en-US" sz="1600" dirty="0"/>
          </a:p>
        </p:txBody>
      </p:sp>
      <p:sp>
        <p:nvSpPr>
          <p:cNvPr id="9" name="card-146"/>
          <p:cNvSpPr/>
          <p:nvPr/>
        </p:nvSpPr>
        <p:spPr>
          <a:xfrm>
            <a:off x="6336792" y="1691640"/>
            <a:ext cx="5303520" cy="2743200"/>
          </a:xfrm>
          <a:prstGeom prst="roundRect">
            <a:avLst>
              <a:gd name="adj" fmla="val 5333"/>
            </a:avLst>
          </a:prstGeom>
          <a:solidFill>
            <a:schemeClr val="tx2"/>
          </a:solidFill>
          <a:ln w="12700">
            <a:solidFill>
              <a:schemeClr val="accent4"/>
            </a:solidFill>
            <a:prstDash val="solid"/>
          </a:ln>
        </p:spPr>
        <p:txBody>
          <a:bodyPr/>
          <a:lstStyle/>
          <a:p>
            <a:endParaRPr lang="ro-RO"/>
          </a:p>
        </p:txBody>
      </p:sp>
      <p:sp>
        <p:nvSpPr>
          <p:cNvPr id="10" name="icon-circle-147"/>
          <p:cNvSpPr/>
          <p:nvPr/>
        </p:nvSpPr>
        <p:spPr>
          <a:xfrm>
            <a:off x="6656832" y="1920240"/>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11" name="icon-148" descr="Robot icon"/>
          <p:cNvPicPr>
            <a:picLocks noChangeAspect="1"/>
          </p:cNvPicPr>
          <p:nvPr/>
        </p:nvPicPr>
        <p:blipFill>
          <a:blip r:embed="rId4"/>
          <a:stretch>
            <a:fillRect/>
          </a:stretch>
        </p:blipFill>
        <p:spPr>
          <a:xfrm>
            <a:off x="6829654" y="2093062"/>
            <a:ext cx="294437" cy="294437"/>
          </a:xfrm>
          <a:prstGeom prst="rect">
            <a:avLst/>
          </a:prstGeom>
        </p:spPr>
      </p:pic>
      <p:sp>
        <p:nvSpPr>
          <p:cNvPr id="12" name="text-149"/>
          <p:cNvSpPr txBox="1"/>
          <p:nvPr/>
        </p:nvSpPr>
        <p:spPr>
          <a:xfrm>
            <a:off x="7479792" y="1920240"/>
            <a:ext cx="3931920" cy="640080"/>
          </a:xfrm>
          <a:prstGeom prst="rect">
            <a:avLst/>
          </a:prstGeom>
          <a:noFill/>
          <a:ln/>
        </p:spPr>
        <p:txBody>
          <a:bodyPr wrap="square" lIns="0" tIns="0" rIns="0" bIns="0" rtlCol="0" anchor="ctr"/>
          <a:lstStyle/>
          <a:p>
            <a:pPr marL="0" indent="0">
              <a:buNone/>
            </a:pPr>
            <a:r>
              <a:rPr lang="en-US" sz="2200" b="1" dirty="0">
                <a:solidFill>
                  <a:schemeClr val="bg1"/>
                </a:solidFill>
              </a:rPr>
              <a:t>Seamless AI integration</a:t>
            </a:r>
            <a:endParaRPr lang="en-US" sz="2200" dirty="0"/>
          </a:p>
        </p:txBody>
      </p:sp>
      <p:sp>
        <p:nvSpPr>
          <p:cNvPr id="13" name="bullets-150"/>
          <p:cNvSpPr txBox="1"/>
          <p:nvPr/>
        </p:nvSpPr>
        <p:spPr>
          <a:xfrm>
            <a:off x="6702552" y="2788920"/>
            <a:ext cx="4572000" cy="15087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Reads pension PDFs into validated numbers</a:t>
            </a:r>
            <a:endParaRPr lang="en-US" sz="1600" dirty="0"/>
          </a:p>
          <a:p>
            <a:pPr marL="228600" indent="-228600">
              <a:spcAft>
                <a:spcPts val="800"/>
              </a:spcAft>
              <a:buSzPct val="100000"/>
              <a:buChar char="•"/>
            </a:pPr>
            <a:r>
              <a:rPr lang="en-US" sz="1600" dirty="0">
                <a:solidFill>
                  <a:schemeClr val="bg1"/>
                </a:solidFill>
              </a:rPr>
              <a:t>Suggests monthly investment amount</a:t>
            </a:r>
            <a:endParaRPr lang="en-US" sz="1600" dirty="0"/>
          </a:p>
          <a:p>
            <a:pPr marL="228600" indent="-228600">
              <a:spcAft>
                <a:spcPts val="800"/>
              </a:spcAft>
              <a:buSzPct val="100000"/>
              <a:buChar char="•"/>
            </a:pPr>
            <a:r>
              <a:rPr lang="en-US" sz="1600" dirty="0">
                <a:solidFill>
                  <a:schemeClr val="bg1"/>
                </a:solidFill>
              </a:rPr>
              <a:t>Analyses your transaction history</a:t>
            </a:r>
            <a:endParaRPr lang="en-US" sz="1600" dirty="0"/>
          </a:p>
          <a:p>
            <a:pPr marL="228600" indent="-228600">
              <a:spcAft>
                <a:spcPts val="800"/>
              </a:spcAft>
              <a:buSzPct val="100000"/>
              <a:buChar char="•"/>
            </a:pPr>
            <a:r>
              <a:rPr lang="en-US" sz="1600" dirty="0">
                <a:solidFill>
                  <a:schemeClr val="bg1"/>
                </a:solidFill>
              </a:rPr>
              <a:t>Doesn’t calculate a single coin</a:t>
            </a:r>
            <a:endParaRPr lang="en-US" sz="1600" dirty="0"/>
          </a:p>
        </p:txBody>
      </p:sp>
      <p:sp>
        <p:nvSpPr>
          <p:cNvPr id="14" name="text-151"/>
          <p:cNvSpPr txBox="1"/>
          <p:nvPr/>
        </p:nvSpPr>
        <p:spPr>
          <a:xfrm>
            <a:off x="548640" y="4754880"/>
            <a:ext cx="54864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EXACT, DOWN TO THE DOT</a:t>
            </a:r>
            <a:endParaRPr lang="en-US" sz="1200" dirty="0"/>
          </a:p>
        </p:txBody>
      </p:sp>
      <p:sp>
        <p:nvSpPr>
          <p:cNvPr id="15" name="chip-152"/>
          <p:cNvSpPr/>
          <p:nvPr/>
        </p:nvSpPr>
        <p:spPr>
          <a:xfrm>
            <a:off x="548640" y="5120640"/>
            <a:ext cx="3108960" cy="914400"/>
          </a:xfrm>
          <a:prstGeom prst="roundRect">
            <a:avLst>
              <a:gd name="adj" fmla="val 16000"/>
            </a:avLst>
          </a:prstGeom>
          <a:solidFill>
            <a:schemeClr val="tx2"/>
          </a:solidFill>
          <a:ln w="12700">
            <a:solidFill>
              <a:schemeClr val="accent4"/>
            </a:solidFill>
            <a:prstDash val="solid"/>
          </a:ln>
        </p:spPr>
        <p:txBody>
          <a:bodyPr/>
          <a:lstStyle/>
          <a:p>
            <a:endParaRPr lang="ro-RO"/>
          </a:p>
        </p:txBody>
      </p:sp>
      <p:sp>
        <p:nvSpPr>
          <p:cNvPr id="16" name="text-153"/>
          <p:cNvSpPr txBox="1"/>
          <p:nvPr/>
        </p:nvSpPr>
        <p:spPr>
          <a:xfrm>
            <a:off x="822960" y="5230368"/>
            <a:ext cx="2560320" cy="274320"/>
          </a:xfrm>
          <a:prstGeom prst="rect">
            <a:avLst/>
          </a:prstGeom>
          <a:noFill/>
          <a:ln/>
        </p:spPr>
        <p:txBody>
          <a:bodyPr wrap="square" lIns="0" tIns="0" rIns="0" bIns="0" rtlCol="0" anchor="t"/>
          <a:lstStyle/>
          <a:p>
            <a:pPr marL="0" indent="0">
              <a:buNone/>
            </a:pPr>
            <a:r>
              <a:rPr lang="en-US" sz="1300" dirty="0">
                <a:solidFill>
                  <a:schemeClr val="accent2"/>
                </a:solidFill>
              </a:rPr>
              <a:t>Coffee</a:t>
            </a:r>
            <a:endParaRPr lang="en-US" sz="1300" dirty="0"/>
          </a:p>
        </p:txBody>
      </p:sp>
      <p:sp>
        <p:nvSpPr>
          <p:cNvPr id="17" name="text-154"/>
          <p:cNvSpPr txBox="1"/>
          <p:nvPr/>
        </p:nvSpPr>
        <p:spPr>
          <a:xfrm>
            <a:off x="822960" y="5532120"/>
            <a:ext cx="2560320" cy="411480"/>
          </a:xfrm>
          <a:prstGeom prst="rect">
            <a:avLst/>
          </a:prstGeom>
          <a:noFill/>
          <a:ln/>
        </p:spPr>
        <p:txBody>
          <a:bodyPr wrap="square" lIns="0" tIns="0" rIns="0" bIns="0" rtlCol="0" anchor="t"/>
          <a:lstStyle/>
          <a:p>
            <a:pPr marL="0" indent="0">
              <a:buNone/>
            </a:pPr>
            <a:r>
              <a:rPr lang="en-US" sz="2200" b="1" dirty="0">
                <a:solidFill>
                  <a:schemeClr val="bg1"/>
                </a:solidFill>
              </a:rPr>
              <a:t>12.30 RON</a:t>
            </a:r>
            <a:endParaRPr lang="en-US" sz="2200" dirty="0"/>
          </a:p>
        </p:txBody>
      </p:sp>
      <p:sp>
        <p:nvSpPr>
          <p:cNvPr id="18" name="arrow-155"/>
          <p:cNvSpPr/>
          <p:nvPr/>
        </p:nvSpPr>
        <p:spPr>
          <a:xfrm>
            <a:off x="3767328" y="5577840"/>
            <a:ext cx="662940" cy="0"/>
          </a:xfrm>
          <a:prstGeom prst="line">
            <a:avLst/>
          </a:prstGeom>
          <a:noFill/>
          <a:ln w="25400">
            <a:solidFill>
              <a:schemeClr val="accent2"/>
            </a:solidFill>
            <a:prstDash val="solid"/>
            <a:tailEnd type="triangle"/>
          </a:ln>
        </p:spPr>
        <p:txBody>
          <a:bodyPr/>
          <a:lstStyle/>
          <a:p>
            <a:endParaRPr lang="ro-RO"/>
          </a:p>
        </p:txBody>
      </p:sp>
      <p:sp>
        <p:nvSpPr>
          <p:cNvPr id="19" name="chip-156"/>
          <p:cNvSpPr/>
          <p:nvPr/>
        </p:nvSpPr>
        <p:spPr>
          <a:xfrm>
            <a:off x="4539996" y="5120640"/>
            <a:ext cx="3108960" cy="914400"/>
          </a:xfrm>
          <a:prstGeom prst="roundRect">
            <a:avLst>
              <a:gd name="adj" fmla="val 16000"/>
            </a:avLst>
          </a:prstGeom>
          <a:solidFill>
            <a:schemeClr val="accent3"/>
          </a:solidFill>
          <a:ln w="12700">
            <a:solidFill>
              <a:schemeClr val="accent3"/>
            </a:solidFill>
            <a:prstDash val="solid"/>
          </a:ln>
        </p:spPr>
        <p:txBody>
          <a:bodyPr/>
          <a:lstStyle/>
          <a:p>
            <a:endParaRPr lang="ro-RO"/>
          </a:p>
        </p:txBody>
      </p:sp>
      <p:sp>
        <p:nvSpPr>
          <p:cNvPr id="20" name="text-157"/>
          <p:cNvSpPr txBox="1"/>
          <p:nvPr/>
        </p:nvSpPr>
        <p:spPr>
          <a:xfrm>
            <a:off x="4814316" y="5230368"/>
            <a:ext cx="2560320" cy="274320"/>
          </a:xfrm>
          <a:prstGeom prst="rect">
            <a:avLst/>
          </a:prstGeom>
          <a:noFill/>
          <a:ln/>
        </p:spPr>
        <p:txBody>
          <a:bodyPr wrap="square" lIns="0" tIns="0" rIns="0" bIns="0" rtlCol="0" anchor="t"/>
          <a:lstStyle/>
          <a:p>
            <a:pPr marL="0" indent="0">
              <a:buNone/>
            </a:pPr>
            <a:r>
              <a:rPr lang="en-US" sz="1300" dirty="0">
                <a:solidFill>
                  <a:schemeClr val="bg2"/>
                </a:solidFill>
              </a:rPr>
              <a:t>You pay</a:t>
            </a:r>
            <a:endParaRPr lang="en-US" sz="1300" dirty="0"/>
          </a:p>
        </p:txBody>
      </p:sp>
      <p:sp>
        <p:nvSpPr>
          <p:cNvPr id="21" name="text-158"/>
          <p:cNvSpPr txBox="1"/>
          <p:nvPr/>
        </p:nvSpPr>
        <p:spPr>
          <a:xfrm>
            <a:off x="4814316" y="5532120"/>
            <a:ext cx="2560320" cy="411480"/>
          </a:xfrm>
          <a:prstGeom prst="rect">
            <a:avLst/>
          </a:prstGeom>
          <a:noFill/>
          <a:ln/>
        </p:spPr>
        <p:txBody>
          <a:bodyPr wrap="square" lIns="0" tIns="0" rIns="0" bIns="0" rtlCol="0" anchor="t"/>
          <a:lstStyle/>
          <a:p>
            <a:pPr marL="0" indent="0">
              <a:buNone/>
            </a:pPr>
            <a:r>
              <a:rPr lang="en-US" sz="2200" b="1" dirty="0">
                <a:solidFill>
                  <a:schemeClr val="bg1"/>
                </a:solidFill>
              </a:rPr>
              <a:t>13.00 RON</a:t>
            </a:r>
            <a:endParaRPr lang="en-US" sz="2200" dirty="0"/>
          </a:p>
        </p:txBody>
      </p:sp>
      <p:sp>
        <p:nvSpPr>
          <p:cNvPr id="22" name="arrow-159"/>
          <p:cNvSpPr/>
          <p:nvPr/>
        </p:nvSpPr>
        <p:spPr>
          <a:xfrm>
            <a:off x="7758684" y="5577840"/>
            <a:ext cx="662940" cy="0"/>
          </a:xfrm>
          <a:prstGeom prst="line">
            <a:avLst/>
          </a:prstGeom>
          <a:noFill/>
          <a:ln w="25400">
            <a:solidFill>
              <a:schemeClr val="accent2"/>
            </a:solidFill>
            <a:prstDash val="solid"/>
            <a:tailEnd type="triangle"/>
          </a:ln>
        </p:spPr>
        <p:txBody>
          <a:bodyPr/>
          <a:lstStyle/>
          <a:p>
            <a:endParaRPr lang="ro-RO"/>
          </a:p>
        </p:txBody>
      </p:sp>
      <p:sp>
        <p:nvSpPr>
          <p:cNvPr id="23" name="chip-160"/>
          <p:cNvSpPr/>
          <p:nvPr/>
        </p:nvSpPr>
        <p:spPr>
          <a:xfrm>
            <a:off x="8531352" y="5120640"/>
            <a:ext cx="3108960" cy="914400"/>
          </a:xfrm>
          <a:prstGeom prst="roundRect">
            <a:avLst>
              <a:gd name="adj" fmla="val 16000"/>
            </a:avLst>
          </a:prstGeom>
          <a:solidFill>
            <a:schemeClr val="accent1"/>
          </a:solidFill>
          <a:ln w="12700">
            <a:solidFill>
              <a:schemeClr val="accent1"/>
            </a:solidFill>
            <a:prstDash val="solid"/>
          </a:ln>
        </p:spPr>
        <p:txBody>
          <a:bodyPr/>
          <a:lstStyle/>
          <a:p>
            <a:endParaRPr lang="ro-RO"/>
          </a:p>
        </p:txBody>
      </p:sp>
      <p:sp>
        <p:nvSpPr>
          <p:cNvPr id="24" name="text-161"/>
          <p:cNvSpPr txBox="1"/>
          <p:nvPr/>
        </p:nvSpPr>
        <p:spPr>
          <a:xfrm>
            <a:off x="8805672" y="5230368"/>
            <a:ext cx="2560320" cy="274320"/>
          </a:xfrm>
          <a:prstGeom prst="rect">
            <a:avLst/>
          </a:prstGeom>
          <a:noFill/>
          <a:ln/>
        </p:spPr>
        <p:txBody>
          <a:bodyPr wrap="square" lIns="0" tIns="0" rIns="0" bIns="0" rtlCol="0" anchor="t"/>
          <a:lstStyle/>
          <a:p>
            <a:pPr marL="0" indent="0">
              <a:buNone/>
            </a:pPr>
            <a:r>
              <a:rPr lang="en-US" sz="1300" dirty="0">
                <a:solidFill>
                  <a:schemeClr val="bg2"/>
                </a:solidFill>
              </a:rPr>
              <a:t>Goes to your future</a:t>
            </a:r>
            <a:endParaRPr lang="en-US" sz="1300" dirty="0"/>
          </a:p>
        </p:txBody>
      </p:sp>
      <p:sp>
        <p:nvSpPr>
          <p:cNvPr id="25" name="text-162"/>
          <p:cNvSpPr txBox="1"/>
          <p:nvPr/>
        </p:nvSpPr>
        <p:spPr>
          <a:xfrm>
            <a:off x="8805672" y="5532120"/>
            <a:ext cx="2560320" cy="411480"/>
          </a:xfrm>
          <a:prstGeom prst="rect">
            <a:avLst/>
          </a:prstGeom>
          <a:noFill/>
          <a:ln/>
        </p:spPr>
        <p:txBody>
          <a:bodyPr wrap="square" lIns="0" tIns="0" rIns="0" bIns="0" rtlCol="0" anchor="t"/>
          <a:lstStyle/>
          <a:p>
            <a:pPr marL="0" indent="0">
              <a:buNone/>
            </a:pPr>
            <a:r>
              <a:rPr lang="en-US" sz="2200" b="1" dirty="0">
                <a:solidFill>
                  <a:schemeClr val="bg1"/>
                </a:solidFill>
              </a:rPr>
              <a:t>+ 0.70 RON</a:t>
            </a:r>
            <a:endParaRPr lang="en-US" sz="2200" dirty="0"/>
          </a:p>
        </p:txBody>
      </p:sp>
      <p:sp>
        <p:nvSpPr>
          <p:cNvPr id="26"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163"/>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THE 3D ISLAND</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A whole world, drawn in code</a:t>
            </a:r>
            <a:endParaRPr lang="en-US" sz="3600" dirty="0"/>
          </a:p>
        </p:txBody>
      </p:sp>
      <p:sp>
        <p:nvSpPr>
          <p:cNvPr id="4" name="icon-circle-164"/>
          <p:cNvSpPr/>
          <p:nvPr/>
        </p:nvSpPr>
        <p:spPr>
          <a:xfrm>
            <a:off x="548640" y="1810512"/>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5" name="icon-165" descr="Cube icon"/>
          <p:cNvPicPr>
            <a:picLocks noChangeAspect="1"/>
          </p:cNvPicPr>
          <p:nvPr/>
        </p:nvPicPr>
        <p:blipFill>
          <a:blip r:embed="rId3"/>
          <a:stretch>
            <a:fillRect/>
          </a:stretch>
        </p:blipFill>
        <p:spPr>
          <a:xfrm>
            <a:off x="721462" y="1983334"/>
            <a:ext cx="294437" cy="294437"/>
          </a:xfrm>
          <a:prstGeom prst="rect">
            <a:avLst/>
          </a:prstGeom>
        </p:spPr>
      </p:pic>
      <p:sp>
        <p:nvSpPr>
          <p:cNvPr id="6" name="text-166"/>
          <p:cNvSpPr txBox="1"/>
          <p:nvPr/>
        </p:nvSpPr>
        <p:spPr>
          <a:xfrm>
            <a:off x="1417320" y="1737360"/>
            <a:ext cx="4572000" cy="365760"/>
          </a:xfrm>
          <a:prstGeom prst="rect">
            <a:avLst/>
          </a:prstGeom>
          <a:noFill/>
          <a:ln/>
        </p:spPr>
        <p:txBody>
          <a:bodyPr wrap="square" lIns="0" tIns="0" rIns="0" bIns="0" rtlCol="0" anchor="t"/>
          <a:lstStyle/>
          <a:p>
            <a:pPr marL="0" indent="0">
              <a:buNone/>
            </a:pPr>
            <a:r>
              <a:rPr lang="en-US" sz="1900" b="1" dirty="0">
                <a:solidFill>
                  <a:schemeClr val="bg1"/>
                </a:solidFill>
              </a:rPr>
              <a:t>No 3D model files</a:t>
            </a:r>
            <a:endParaRPr lang="en-US" sz="1900" dirty="0"/>
          </a:p>
        </p:txBody>
      </p:sp>
      <p:sp>
        <p:nvSpPr>
          <p:cNvPr id="7" name="text-167"/>
          <p:cNvSpPr txBox="1"/>
          <p:nvPr/>
        </p:nvSpPr>
        <p:spPr>
          <a:xfrm>
            <a:off x="1417320" y="2121408"/>
            <a:ext cx="4572000" cy="594360"/>
          </a:xfrm>
          <a:prstGeom prst="rect">
            <a:avLst/>
          </a:prstGeom>
          <a:noFill/>
          <a:ln/>
        </p:spPr>
        <p:txBody>
          <a:bodyPr wrap="square" lIns="0" tIns="0" rIns="0" bIns="0" rtlCol="0" anchor="t"/>
          <a:lstStyle/>
          <a:p>
            <a:pPr marL="0" indent="0">
              <a:buNone/>
            </a:pPr>
            <a:r>
              <a:rPr lang="en-US" sz="1400" dirty="0">
                <a:solidFill>
                  <a:schemeClr val="accent2"/>
                </a:solidFill>
              </a:rPr>
              <a:t>Boxes, cones and cylinders with flat shading. Every object is a few lines of code.</a:t>
            </a:r>
            <a:endParaRPr lang="en-US" sz="1400" dirty="0"/>
          </a:p>
        </p:txBody>
      </p:sp>
      <p:sp>
        <p:nvSpPr>
          <p:cNvPr id="8" name="icon-circle-168"/>
          <p:cNvSpPr/>
          <p:nvPr/>
        </p:nvSpPr>
        <p:spPr>
          <a:xfrm>
            <a:off x="548640" y="2889504"/>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9" name="icon-169" descr="Microchip icon"/>
          <p:cNvPicPr>
            <a:picLocks noChangeAspect="1"/>
          </p:cNvPicPr>
          <p:nvPr/>
        </p:nvPicPr>
        <p:blipFill>
          <a:blip r:embed="rId4"/>
          <a:stretch>
            <a:fillRect/>
          </a:stretch>
        </p:blipFill>
        <p:spPr>
          <a:xfrm>
            <a:off x="721462" y="3062326"/>
            <a:ext cx="294437" cy="294437"/>
          </a:xfrm>
          <a:prstGeom prst="rect">
            <a:avLst/>
          </a:prstGeom>
        </p:spPr>
      </p:pic>
      <p:sp>
        <p:nvSpPr>
          <p:cNvPr id="10" name="text-170"/>
          <p:cNvSpPr txBox="1"/>
          <p:nvPr/>
        </p:nvSpPr>
        <p:spPr>
          <a:xfrm>
            <a:off x="1417320" y="2816352"/>
            <a:ext cx="4572000" cy="365760"/>
          </a:xfrm>
          <a:prstGeom prst="rect">
            <a:avLst/>
          </a:prstGeom>
          <a:noFill/>
          <a:ln/>
        </p:spPr>
        <p:txBody>
          <a:bodyPr wrap="square" lIns="0" tIns="0" rIns="0" bIns="0" rtlCol="0" anchor="t"/>
          <a:lstStyle/>
          <a:p>
            <a:pPr marL="0" indent="0">
              <a:buNone/>
            </a:pPr>
            <a:r>
              <a:rPr lang="en-US" sz="1900" b="1" dirty="0">
                <a:solidFill>
                  <a:schemeClr val="bg1"/>
                </a:solidFill>
              </a:rPr>
              <a:t>Built for any phone</a:t>
            </a:r>
            <a:endParaRPr lang="en-US" sz="1900" dirty="0"/>
          </a:p>
        </p:txBody>
      </p:sp>
      <p:sp>
        <p:nvSpPr>
          <p:cNvPr id="11" name="text-171"/>
          <p:cNvSpPr txBox="1"/>
          <p:nvPr/>
        </p:nvSpPr>
        <p:spPr>
          <a:xfrm>
            <a:off x="1417320" y="3200400"/>
            <a:ext cx="4572000" cy="594360"/>
          </a:xfrm>
          <a:prstGeom prst="rect">
            <a:avLst/>
          </a:prstGeom>
          <a:noFill/>
          <a:ln/>
        </p:spPr>
        <p:txBody>
          <a:bodyPr wrap="square" lIns="0" tIns="0" rIns="0" bIns="0" rtlCol="0" anchor="t"/>
          <a:lstStyle/>
          <a:p>
            <a:pPr marL="0" indent="0">
              <a:buNone/>
            </a:pPr>
            <a:r>
              <a:rPr lang="en-US" sz="1400" dirty="0">
                <a:solidFill>
                  <a:schemeClr val="accent2"/>
                </a:solidFill>
              </a:rPr>
              <a:t>Low pixel ratio, pauses off-screen, respects reduced motion.</a:t>
            </a:r>
            <a:endParaRPr lang="en-US" sz="1400" dirty="0"/>
          </a:p>
        </p:txBody>
      </p:sp>
      <p:sp>
        <p:nvSpPr>
          <p:cNvPr id="12" name="icon-circle-172"/>
          <p:cNvSpPr/>
          <p:nvPr/>
        </p:nvSpPr>
        <p:spPr>
          <a:xfrm>
            <a:off x="548640" y="3968496"/>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13" name="icon-173" descr="LayerGroup icon"/>
          <p:cNvPicPr>
            <a:picLocks noChangeAspect="1"/>
          </p:cNvPicPr>
          <p:nvPr/>
        </p:nvPicPr>
        <p:blipFill>
          <a:blip r:embed="rId5"/>
          <a:stretch>
            <a:fillRect/>
          </a:stretch>
        </p:blipFill>
        <p:spPr>
          <a:xfrm>
            <a:off x="721462" y="4141318"/>
            <a:ext cx="294437" cy="294437"/>
          </a:xfrm>
          <a:prstGeom prst="rect">
            <a:avLst/>
          </a:prstGeom>
        </p:spPr>
      </p:pic>
      <p:sp>
        <p:nvSpPr>
          <p:cNvPr id="14" name="text-174"/>
          <p:cNvSpPr txBox="1"/>
          <p:nvPr/>
        </p:nvSpPr>
        <p:spPr>
          <a:xfrm>
            <a:off x="1417320" y="3895344"/>
            <a:ext cx="4572000" cy="365760"/>
          </a:xfrm>
          <a:prstGeom prst="rect">
            <a:avLst/>
          </a:prstGeom>
          <a:noFill/>
          <a:ln/>
        </p:spPr>
        <p:txBody>
          <a:bodyPr wrap="square" lIns="0" tIns="0" rIns="0" bIns="0" rtlCol="0" anchor="t"/>
          <a:lstStyle/>
          <a:p>
            <a:pPr marL="0" indent="0">
              <a:buNone/>
            </a:pPr>
            <a:r>
              <a:rPr lang="en-US" sz="1900" b="1" dirty="0">
                <a:solidFill>
                  <a:schemeClr val="bg1"/>
                </a:solidFill>
              </a:rPr>
              <a:t>Never a blank screen</a:t>
            </a:r>
            <a:endParaRPr lang="en-US" sz="1900" dirty="0"/>
          </a:p>
        </p:txBody>
      </p:sp>
      <p:sp>
        <p:nvSpPr>
          <p:cNvPr id="15" name="text-175"/>
          <p:cNvSpPr txBox="1"/>
          <p:nvPr/>
        </p:nvSpPr>
        <p:spPr>
          <a:xfrm>
            <a:off x="1417320" y="4279392"/>
            <a:ext cx="4572000" cy="594360"/>
          </a:xfrm>
          <a:prstGeom prst="rect">
            <a:avLst/>
          </a:prstGeom>
          <a:noFill/>
          <a:ln/>
        </p:spPr>
        <p:txBody>
          <a:bodyPr wrap="square" lIns="0" tIns="0" rIns="0" bIns="0" rtlCol="0" anchor="t"/>
          <a:lstStyle/>
          <a:p>
            <a:pPr marL="0" indent="0">
              <a:buNone/>
            </a:pPr>
            <a:r>
              <a:rPr lang="en-US" sz="1400" dirty="0">
                <a:solidFill>
                  <a:schemeClr val="accent2"/>
                </a:solidFill>
              </a:rPr>
              <a:t>If WebGL is missing, a 2D card takes over.</a:t>
            </a:r>
            <a:endParaRPr lang="en-US" sz="1400" dirty="0"/>
          </a:p>
        </p:txBody>
      </p:sp>
      <p:sp>
        <p:nvSpPr>
          <p:cNvPr id="16" name="icon-circle-176"/>
          <p:cNvSpPr/>
          <p:nvPr/>
        </p:nvSpPr>
        <p:spPr>
          <a:xfrm>
            <a:off x="548640" y="5047488"/>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17" name="icon-177" descr="ShareAlt icon"/>
          <p:cNvPicPr>
            <a:picLocks noChangeAspect="1"/>
          </p:cNvPicPr>
          <p:nvPr/>
        </p:nvPicPr>
        <p:blipFill>
          <a:blip r:embed="rId6"/>
          <a:stretch>
            <a:fillRect/>
          </a:stretch>
        </p:blipFill>
        <p:spPr>
          <a:xfrm>
            <a:off x="721462" y="5220310"/>
            <a:ext cx="294437" cy="294437"/>
          </a:xfrm>
          <a:prstGeom prst="rect">
            <a:avLst/>
          </a:prstGeom>
        </p:spPr>
      </p:pic>
      <p:sp>
        <p:nvSpPr>
          <p:cNvPr id="18" name="text-178"/>
          <p:cNvSpPr txBox="1"/>
          <p:nvPr/>
        </p:nvSpPr>
        <p:spPr>
          <a:xfrm>
            <a:off x="1417320" y="4974336"/>
            <a:ext cx="4572000" cy="365760"/>
          </a:xfrm>
          <a:prstGeom prst="rect">
            <a:avLst/>
          </a:prstGeom>
          <a:noFill/>
          <a:ln/>
        </p:spPr>
        <p:txBody>
          <a:bodyPr wrap="square" lIns="0" tIns="0" rIns="0" bIns="0" rtlCol="0" anchor="t"/>
          <a:lstStyle/>
          <a:p>
            <a:pPr marL="0" indent="0">
              <a:buNone/>
            </a:pPr>
            <a:r>
              <a:rPr lang="en-US" sz="1900" b="1" dirty="0">
                <a:solidFill>
                  <a:schemeClr val="bg1"/>
                </a:solidFill>
              </a:rPr>
              <a:t>Made to be shared</a:t>
            </a:r>
            <a:endParaRPr lang="en-US" sz="1900" dirty="0"/>
          </a:p>
        </p:txBody>
      </p:sp>
      <p:sp>
        <p:nvSpPr>
          <p:cNvPr id="19" name="text-179"/>
          <p:cNvSpPr txBox="1"/>
          <p:nvPr/>
        </p:nvSpPr>
        <p:spPr>
          <a:xfrm>
            <a:off x="1417320" y="5358384"/>
            <a:ext cx="4572000" cy="594360"/>
          </a:xfrm>
          <a:prstGeom prst="rect">
            <a:avLst/>
          </a:prstGeom>
          <a:noFill/>
          <a:ln/>
        </p:spPr>
        <p:txBody>
          <a:bodyPr wrap="square" lIns="0" tIns="0" rIns="0" bIns="0" rtlCol="0" anchor="t"/>
          <a:lstStyle/>
          <a:p>
            <a:pPr marL="0" indent="0">
              <a:buNone/>
            </a:pPr>
            <a:r>
              <a:rPr lang="en-US" sz="1400" dirty="0">
                <a:solidFill>
                  <a:schemeClr val="accent2"/>
                </a:solidFill>
              </a:rPr>
              <a:t>A public link shows your first name, level and island.</a:t>
            </a:r>
            <a:endParaRPr lang="en-US" sz="1400" dirty="0"/>
          </a:p>
        </p:txBody>
      </p:sp>
      <p:sp>
        <p:nvSpPr>
          <p:cNvPr id="20" name="code-card-180"/>
          <p:cNvSpPr/>
          <p:nvPr/>
        </p:nvSpPr>
        <p:spPr>
          <a:xfrm>
            <a:off x="6492240" y="1737360"/>
            <a:ext cx="5148072" cy="2148840"/>
          </a:xfrm>
          <a:prstGeom prst="roundRect">
            <a:avLst>
              <a:gd name="adj" fmla="val 6809"/>
            </a:avLst>
          </a:prstGeom>
          <a:solidFill>
            <a:schemeClr val="accent6"/>
          </a:solidFill>
          <a:ln w="12700">
            <a:solidFill>
              <a:schemeClr val="accent4"/>
            </a:solidFill>
            <a:prstDash val="solid"/>
          </a:ln>
        </p:spPr>
        <p:txBody>
          <a:bodyPr/>
          <a:lstStyle/>
          <a:p>
            <a:endParaRPr lang="ro-RO"/>
          </a:p>
        </p:txBody>
      </p:sp>
      <p:sp>
        <p:nvSpPr>
          <p:cNvPr id="21" name="text-181"/>
          <p:cNvSpPr txBox="1"/>
          <p:nvPr/>
        </p:nvSpPr>
        <p:spPr>
          <a:xfrm>
            <a:off x="6812280" y="1874520"/>
            <a:ext cx="4114800" cy="274320"/>
          </a:xfrm>
          <a:prstGeom prst="rect">
            <a:avLst/>
          </a:prstGeom>
          <a:noFill/>
          <a:ln/>
        </p:spPr>
        <p:txBody>
          <a:bodyPr wrap="square" lIns="0" tIns="0" rIns="0" bIns="0" rtlCol="0" anchor="ctr"/>
          <a:lstStyle/>
          <a:p>
            <a:pPr marL="0" indent="0">
              <a:buNone/>
            </a:pPr>
            <a:r>
              <a:rPr lang="en-US" sz="1100" dirty="0">
                <a:solidFill>
                  <a:schemeClr val="accent5"/>
                </a:solidFill>
                <a:latin typeface="Courier New" pitchFamily="34" charset="0"/>
                <a:ea typeface="Courier New" pitchFamily="34" charset="-122"/>
                <a:cs typeface="Courier New" pitchFamily="34" charset="-120"/>
              </a:rPr>
              <a:t>lifestyle-scene.tsx</a:t>
            </a:r>
            <a:endParaRPr lang="en-US" sz="1100" dirty="0"/>
          </a:p>
        </p:txBody>
      </p:sp>
      <p:sp>
        <p:nvSpPr>
          <p:cNvPr id="22" name="code-182"/>
          <p:cNvSpPr txBox="1"/>
          <p:nvPr/>
        </p:nvSpPr>
        <p:spPr>
          <a:xfrm>
            <a:off x="6812280" y="2240280"/>
            <a:ext cx="4572000" cy="1508760"/>
          </a:xfrm>
          <a:prstGeom prst="rect">
            <a:avLst/>
          </a:prstGeom>
          <a:noFill/>
          <a:ln/>
        </p:spPr>
        <p:txBody>
          <a:bodyPr wrap="square" lIns="0" tIns="0" rIns="0" bIns="0" rtlCol="0" anchor="t"/>
          <a:lstStyle/>
          <a:p>
            <a:pPr marL="0" indent="0">
              <a:buNone/>
            </a:pPr>
            <a:r>
              <a:rPr lang="en-US" sz="1400" dirty="0">
                <a:solidFill>
                  <a:schemeClr val="accent2"/>
                </a:solidFill>
                <a:latin typeface="Courier New" pitchFamily="34" charset="0"/>
                <a:ea typeface="Courier New" pitchFamily="34" charset="-122"/>
                <a:cs typeface="Courier New" pitchFamily="34" charset="-120"/>
              </a:rPr>
              <a:t>&lt;LifestyleScene</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  slots={{ home: 3, transport: 2,</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           food: 3, extras: 2 }}</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  highlight="transport"</a:t>
            </a:r>
            <a:endParaRPr lang="en-US" sz="1400" dirty="0"/>
          </a:p>
          <a:p>
            <a:pPr marL="0" indent="0">
              <a:buNone/>
            </a:pPr>
            <a:r>
              <a:rPr lang="en-US" sz="1400" dirty="0">
                <a:solidFill>
                  <a:schemeClr val="accent2"/>
                </a:solidFill>
                <a:latin typeface="Courier New" pitchFamily="34" charset="0"/>
                <a:ea typeface="Courier New" pitchFamily="34" charset="-122"/>
                <a:cs typeface="Courier New" pitchFamily="34" charset="-120"/>
              </a:rPr>
              <a:t>/&gt;</a:t>
            </a:r>
            <a:endParaRPr lang="en-US" sz="1400" dirty="0"/>
          </a:p>
        </p:txBody>
      </p:sp>
      <p:sp>
        <p:nvSpPr>
          <p:cNvPr id="23" name="card-183"/>
          <p:cNvSpPr/>
          <p:nvPr/>
        </p:nvSpPr>
        <p:spPr>
          <a:xfrm>
            <a:off x="6492240" y="4160520"/>
            <a:ext cx="1143000" cy="1783080"/>
          </a:xfrm>
          <a:prstGeom prst="roundRect">
            <a:avLst>
              <a:gd name="adj" fmla="val 12800"/>
            </a:avLst>
          </a:prstGeom>
          <a:solidFill>
            <a:schemeClr val="tx2"/>
          </a:solidFill>
          <a:ln w="12700">
            <a:solidFill>
              <a:schemeClr val="accent4"/>
            </a:solidFill>
            <a:prstDash val="solid"/>
          </a:ln>
        </p:spPr>
        <p:txBody>
          <a:bodyPr/>
          <a:lstStyle/>
          <a:p>
            <a:endParaRPr lang="ro-RO"/>
          </a:p>
        </p:txBody>
      </p:sp>
      <p:sp>
        <p:nvSpPr>
          <p:cNvPr id="24" name="icon-circle-184"/>
          <p:cNvSpPr/>
          <p:nvPr/>
        </p:nvSpPr>
        <p:spPr>
          <a:xfrm>
            <a:off x="6780276" y="4343400"/>
            <a:ext cx="566928" cy="566928"/>
          </a:xfrm>
          <a:prstGeom prst="ellipse">
            <a:avLst/>
          </a:prstGeom>
          <a:solidFill>
            <a:schemeClr val="accent3"/>
          </a:solidFill>
          <a:ln w="12700">
            <a:solidFill>
              <a:schemeClr val="accent3"/>
            </a:solidFill>
            <a:prstDash val="solid"/>
          </a:ln>
        </p:spPr>
        <p:txBody>
          <a:bodyPr/>
          <a:lstStyle/>
          <a:p>
            <a:endParaRPr lang="ro-RO"/>
          </a:p>
        </p:txBody>
      </p:sp>
      <p:pic>
        <p:nvPicPr>
          <p:cNvPr id="25" name="icon-185" descr="Home icon"/>
          <p:cNvPicPr>
            <a:picLocks noChangeAspect="1"/>
          </p:cNvPicPr>
          <p:nvPr/>
        </p:nvPicPr>
        <p:blipFill>
          <a:blip r:embed="rId7"/>
          <a:stretch>
            <a:fillRect/>
          </a:stretch>
        </p:blipFill>
        <p:spPr>
          <a:xfrm>
            <a:off x="6933347" y="4496471"/>
            <a:ext cx="260787" cy="260787"/>
          </a:xfrm>
          <a:prstGeom prst="rect">
            <a:avLst/>
          </a:prstGeom>
        </p:spPr>
      </p:pic>
      <p:sp>
        <p:nvSpPr>
          <p:cNvPr id="26" name="text-186"/>
          <p:cNvSpPr txBox="1"/>
          <p:nvPr/>
        </p:nvSpPr>
        <p:spPr>
          <a:xfrm>
            <a:off x="6492240" y="5029200"/>
            <a:ext cx="1143000" cy="274320"/>
          </a:xfrm>
          <a:prstGeom prst="rect">
            <a:avLst/>
          </a:prstGeom>
          <a:noFill/>
          <a:ln/>
        </p:spPr>
        <p:txBody>
          <a:bodyPr wrap="square" lIns="0" tIns="0" rIns="0" bIns="0" rtlCol="0" anchor="t"/>
          <a:lstStyle/>
          <a:p>
            <a:pPr marL="0" indent="0" algn="ctr">
              <a:buNone/>
            </a:pPr>
            <a:r>
              <a:rPr lang="en-US" sz="1300" b="1" dirty="0">
                <a:solidFill>
                  <a:schemeClr val="bg1"/>
                </a:solidFill>
              </a:rPr>
              <a:t>Home</a:t>
            </a:r>
            <a:endParaRPr lang="en-US" sz="1300" dirty="0"/>
          </a:p>
        </p:txBody>
      </p:sp>
      <p:sp>
        <p:nvSpPr>
          <p:cNvPr id="27" name="tier-dot-187"/>
          <p:cNvSpPr/>
          <p:nvPr/>
        </p:nvSpPr>
        <p:spPr>
          <a:xfrm>
            <a:off x="6679692"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28" name="tier-dot-188"/>
          <p:cNvSpPr/>
          <p:nvPr/>
        </p:nvSpPr>
        <p:spPr>
          <a:xfrm>
            <a:off x="6844284"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29" name="tier-dot-189"/>
          <p:cNvSpPr/>
          <p:nvPr/>
        </p:nvSpPr>
        <p:spPr>
          <a:xfrm>
            <a:off x="7008876"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30" name="tier-dot-190"/>
          <p:cNvSpPr/>
          <p:nvPr/>
        </p:nvSpPr>
        <p:spPr>
          <a:xfrm>
            <a:off x="7173468"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31" name="tier-dot-191"/>
          <p:cNvSpPr/>
          <p:nvPr/>
        </p:nvSpPr>
        <p:spPr>
          <a:xfrm>
            <a:off x="7338060"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32" name="text-192"/>
          <p:cNvSpPr txBox="1"/>
          <p:nvPr/>
        </p:nvSpPr>
        <p:spPr>
          <a:xfrm>
            <a:off x="6492240" y="5650992"/>
            <a:ext cx="1143000" cy="228600"/>
          </a:xfrm>
          <a:prstGeom prst="rect">
            <a:avLst/>
          </a:prstGeom>
          <a:noFill/>
          <a:ln/>
        </p:spPr>
        <p:txBody>
          <a:bodyPr wrap="square" lIns="0" tIns="0" rIns="0" bIns="0" rtlCol="0" anchor="t"/>
          <a:lstStyle/>
          <a:p>
            <a:pPr marL="0" indent="0" algn="ctr">
              <a:buNone/>
            </a:pPr>
            <a:r>
              <a:rPr lang="en-US" sz="1000" dirty="0">
                <a:solidFill>
                  <a:schemeClr val="accent2"/>
                </a:solidFill>
              </a:rPr>
              <a:t>tier 3</a:t>
            </a:r>
            <a:endParaRPr lang="en-US" sz="1000" dirty="0"/>
          </a:p>
        </p:txBody>
      </p:sp>
      <p:sp>
        <p:nvSpPr>
          <p:cNvPr id="33" name="card-193"/>
          <p:cNvSpPr/>
          <p:nvPr/>
        </p:nvSpPr>
        <p:spPr>
          <a:xfrm>
            <a:off x="7827264" y="4160520"/>
            <a:ext cx="1143000" cy="1783080"/>
          </a:xfrm>
          <a:prstGeom prst="roundRect">
            <a:avLst>
              <a:gd name="adj" fmla="val 12800"/>
            </a:avLst>
          </a:prstGeom>
          <a:solidFill>
            <a:schemeClr val="tx2"/>
          </a:solidFill>
          <a:ln w="12700">
            <a:solidFill>
              <a:schemeClr val="accent4"/>
            </a:solidFill>
            <a:prstDash val="solid"/>
          </a:ln>
        </p:spPr>
        <p:txBody>
          <a:bodyPr/>
          <a:lstStyle/>
          <a:p>
            <a:endParaRPr lang="ro-RO"/>
          </a:p>
        </p:txBody>
      </p:sp>
      <p:sp>
        <p:nvSpPr>
          <p:cNvPr id="34" name="icon-circle-194"/>
          <p:cNvSpPr/>
          <p:nvPr/>
        </p:nvSpPr>
        <p:spPr>
          <a:xfrm>
            <a:off x="8115300" y="4343400"/>
            <a:ext cx="566928" cy="566928"/>
          </a:xfrm>
          <a:prstGeom prst="ellipse">
            <a:avLst/>
          </a:prstGeom>
          <a:solidFill>
            <a:schemeClr val="accent3"/>
          </a:solidFill>
          <a:ln w="12700">
            <a:solidFill>
              <a:schemeClr val="accent3"/>
            </a:solidFill>
            <a:prstDash val="solid"/>
          </a:ln>
        </p:spPr>
        <p:txBody>
          <a:bodyPr/>
          <a:lstStyle/>
          <a:p>
            <a:endParaRPr lang="ro-RO"/>
          </a:p>
        </p:txBody>
      </p:sp>
      <p:pic>
        <p:nvPicPr>
          <p:cNvPr id="35" name="icon-195" descr="Car icon"/>
          <p:cNvPicPr>
            <a:picLocks noChangeAspect="1"/>
          </p:cNvPicPr>
          <p:nvPr/>
        </p:nvPicPr>
        <p:blipFill>
          <a:blip r:embed="rId8"/>
          <a:stretch>
            <a:fillRect/>
          </a:stretch>
        </p:blipFill>
        <p:spPr>
          <a:xfrm>
            <a:off x="8268371" y="4496471"/>
            <a:ext cx="260787" cy="260787"/>
          </a:xfrm>
          <a:prstGeom prst="rect">
            <a:avLst/>
          </a:prstGeom>
        </p:spPr>
      </p:pic>
      <p:sp>
        <p:nvSpPr>
          <p:cNvPr id="36" name="text-196"/>
          <p:cNvSpPr txBox="1"/>
          <p:nvPr/>
        </p:nvSpPr>
        <p:spPr>
          <a:xfrm>
            <a:off x="7827264" y="5029200"/>
            <a:ext cx="1143000" cy="274320"/>
          </a:xfrm>
          <a:prstGeom prst="rect">
            <a:avLst/>
          </a:prstGeom>
          <a:noFill/>
          <a:ln/>
        </p:spPr>
        <p:txBody>
          <a:bodyPr wrap="square" lIns="0" tIns="0" rIns="0" bIns="0" rtlCol="0" anchor="t"/>
          <a:lstStyle/>
          <a:p>
            <a:pPr marL="0" indent="0" algn="ctr">
              <a:buNone/>
            </a:pPr>
            <a:r>
              <a:rPr lang="en-US" sz="1300" b="1" dirty="0">
                <a:solidFill>
                  <a:schemeClr val="bg1"/>
                </a:solidFill>
              </a:rPr>
              <a:t>Transport</a:t>
            </a:r>
            <a:endParaRPr lang="en-US" sz="1300" dirty="0"/>
          </a:p>
        </p:txBody>
      </p:sp>
      <p:sp>
        <p:nvSpPr>
          <p:cNvPr id="37" name="tier-dot-197"/>
          <p:cNvSpPr/>
          <p:nvPr/>
        </p:nvSpPr>
        <p:spPr>
          <a:xfrm>
            <a:off x="8014716"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38" name="tier-dot-198"/>
          <p:cNvSpPr/>
          <p:nvPr/>
        </p:nvSpPr>
        <p:spPr>
          <a:xfrm>
            <a:off x="8179308"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39" name="tier-dot-199"/>
          <p:cNvSpPr/>
          <p:nvPr/>
        </p:nvSpPr>
        <p:spPr>
          <a:xfrm>
            <a:off x="8343900"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40" name="tier-dot-200"/>
          <p:cNvSpPr/>
          <p:nvPr/>
        </p:nvSpPr>
        <p:spPr>
          <a:xfrm>
            <a:off x="8508492"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41" name="tier-dot-201"/>
          <p:cNvSpPr/>
          <p:nvPr/>
        </p:nvSpPr>
        <p:spPr>
          <a:xfrm>
            <a:off x="8673084"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42" name="text-202"/>
          <p:cNvSpPr txBox="1"/>
          <p:nvPr/>
        </p:nvSpPr>
        <p:spPr>
          <a:xfrm>
            <a:off x="7827264" y="5650992"/>
            <a:ext cx="1143000" cy="228600"/>
          </a:xfrm>
          <a:prstGeom prst="rect">
            <a:avLst/>
          </a:prstGeom>
          <a:noFill/>
          <a:ln/>
        </p:spPr>
        <p:txBody>
          <a:bodyPr wrap="square" lIns="0" tIns="0" rIns="0" bIns="0" rtlCol="0" anchor="t"/>
          <a:lstStyle/>
          <a:p>
            <a:pPr marL="0" indent="0" algn="ctr">
              <a:buNone/>
            </a:pPr>
            <a:r>
              <a:rPr lang="en-US" sz="1000" dirty="0">
                <a:solidFill>
                  <a:schemeClr val="accent2"/>
                </a:solidFill>
              </a:rPr>
              <a:t>tier 2</a:t>
            </a:r>
            <a:endParaRPr lang="en-US" sz="1000" dirty="0"/>
          </a:p>
        </p:txBody>
      </p:sp>
      <p:sp>
        <p:nvSpPr>
          <p:cNvPr id="43" name="card-203"/>
          <p:cNvSpPr/>
          <p:nvPr/>
        </p:nvSpPr>
        <p:spPr>
          <a:xfrm>
            <a:off x="9162288" y="4160520"/>
            <a:ext cx="1143000" cy="1783080"/>
          </a:xfrm>
          <a:prstGeom prst="roundRect">
            <a:avLst>
              <a:gd name="adj" fmla="val 12800"/>
            </a:avLst>
          </a:prstGeom>
          <a:solidFill>
            <a:schemeClr val="tx2"/>
          </a:solidFill>
          <a:ln w="12700">
            <a:solidFill>
              <a:schemeClr val="accent4"/>
            </a:solidFill>
            <a:prstDash val="solid"/>
          </a:ln>
        </p:spPr>
        <p:txBody>
          <a:bodyPr/>
          <a:lstStyle/>
          <a:p>
            <a:endParaRPr lang="ro-RO"/>
          </a:p>
        </p:txBody>
      </p:sp>
      <p:sp>
        <p:nvSpPr>
          <p:cNvPr id="44" name="icon-circle-204"/>
          <p:cNvSpPr/>
          <p:nvPr/>
        </p:nvSpPr>
        <p:spPr>
          <a:xfrm>
            <a:off x="9450324" y="4343400"/>
            <a:ext cx="566928" cy="566928"/>
          </a:xfrm>
          <a:prstGeom prst="ellipse">
            <a:avLst/>
          </a:prstGeom>
          <a:solidFill>
            <a:schemeClr val="accent3"/>
          </a:solidFill>
          <a:ln w="12700">
            <a:solidFill>
              <a:schemeClr val="accent3"/>
            </a:solidFill>
            <a:prstDash val="solid"/>
          </a:ln>
        </p:spPr>
        <p:txBody>
          <a:bodyPr/>
          <a:lstStyle/>
          <a:p>
            <a:endParaRPr lang="ro-RO"/>
          </a:p>
        </p:txBody>
      </p:sp>
      <p:pic>
        <p:nvPicPr>
          <p:cNvPr id="45" name="icon-205" descr="Utensils icon"/>
          <p:cNvPicPr>
            <a:picLocks noChangeAspect="1"/>
          </p:cNvPicPr>
          <p:nvPr/>
        </p:nvPicPr>
        <p:blipFill>
          <a:blip r:embed="rId9"/>
          <a:stretch>
            <a:fillRect/>
          </a:stretch>
        </p:blipFill>
        <p:spPr>
          <a:xfrm>
            <a:off x="9603395" y="4496471"/>
            <a:ext cx="260787" cy="260787"/>
          </a:xfrm>
          <a:prstGeom prst="rect">
            <a:avLst/>
          </a:prstGeom>
        </p:spPr>
      </p:pic>
      <p:sp>
        <p:nvSpPr>
          <p:cNvPr id="46" name="text-206"/>
          <p:cNvSpPr txBox="1"/>
          <p:nvPr/>
        </p:nvSpPr>
        <p:spPr>
          <a:xfrm>
            <a:off x="9162288" y="5029200"/>
            <a:ext cx="1143000" cy="274320"/>
          </a:xfrm>
          <a:prstGeom prst="rect">
            <a:avLst/>
          </a:prstGeom>
          <a:noFill/>
          <a:ln/>
        </p:spPr>
        <p:txBody>
          <a:bodyPr wrap="square" lIns="0" tIns="0" rIns="0" bIns="0" rtlCol="0" anchor="t"/>
          <a:lstStyle/>
          <a:p>
            <a:pPr marL="0" indent="0" algn="ctr">
              <a:buNone/>
            </a:pPr>
            <a:r>
              <a:rPr lang="en-US" sz="1300" b="1" dirty="0">
                <a:solidFill>
                  <a:schemeClr val="bg1"/>
                </a:solidFill>
              </a:rPr>
              <a:t>Food</a:t>
            </a:r>
            <a:endParaRPr lang="en-US" sz="1300" dirty="0"/>
          </a:p>
        </p:txBody>
      </p:sp>
      <p:sp>
        <p:nvSpPr>
          <p:cNvPr id="47" name="tier-dot-207"/>
          <p:cNvSpPr/>
          <p:nvPr/>
        </p:nvSpPr>
        <p:spPr>
          <a:xfrm>
            <a:off x="9349740"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48" name="tier-dot-208"/>
          <p:cNvSpPr/>
          <p:nvPr/>
        </p:nvSpPr>
        <p:spPr>
          <a:xfrm>
            <a:off x="9514332"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49" name="tier-dot-209"/>
          <p:cNvSpPr/>
          <p:nvPr/>
        </p:nvSpPr>
        <p:spPr>
          <a:xfrm>
            <a:off x="9678924"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50" name="tier-dot-210"/>
          <p:cNvSpPr/>
          <p:nvPr/>
        </p:nvSpPr>
        <p:spPr>
          <a:xfrm>
            <a:off x="9843516"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51" name="tier-dot-211"/>
          <p:cNvSpPr/>
          <p:nvPr/>
        </p:nvSpPr>
        <p:spPr>
          <a:xfrm>
            <a:off x="10008108"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52" name="text-212"/>
          <p:cNvSpPr txBox="1"/>
          <p:nvPr/>
        </p:nvSpPr>
        <p:spPr>
          <a:xfrm>
            <a:off x="9162288" y="5650992"/>
            <a:ext cx="1143000" cy="228600"/>
          </a:xfrm>
          <a:prstGeom prst="rect">
            <a:avLst/>
          </a:prstGeom>
          <a:noFill/>
          <a:ln/>
        </p:spPr>
        <p:txBody>
          <a:bodyPr wrap="square" lIns="0" tIns="0" rIns="0" bIns="0" rtlCol="0" anchor="t"/>
          <a:lstStyle/>
          <a:p>
            <a:pPr marL="0" indent="0" algn="ctr">
              <a:buNone/>
            </a:pPr>
            <a:r>
              <a:rPr lang="en-US" sz="1000" dirty="0">
                <a:solidFill>
                  <a:schemeClr val="accent2"/>
                </a:solidFill>
              </a:rPr>
              <a:t>tier 3</a:t>
            </a:r>
            <a:endParaRPr lang="en-US" sz="1000" dirty="0"/>
          </a:p>
        </p:txBody>
      </p:sp>
      <p:sp>
        <p:nvSpPr>
          <p:cNvPr id="53" name="card-213"/>
          <p:cNvSpPr/>
          <p:nvPr/>
        </p:nvSpPr>
        <p:spPr>
          <a:xfrm>
            <a:off x="10497312" y="4160520"/>
            <a:ext cx="1143000" cy="1783080"/>
          </a:xfrm>
          <a:prstGeom prst="roundRect">
            <a:avLst>
              <a:gd name="adj" fmla="val 12800"/>
            </a:avLst>
          </a:prstGeom>
          <a:solidFill>
            <a:schemeClr val="tx2"/>
          </a:solidFill>
          <a:ln w="12700">
            <a:solidFill>
              <a:schemeClr val="accent4"/>
            </a:solidFill>
            <a:prstDash val="solid"/>
          </a:ln>
        </p:spPr>
        <p:txBody>
          <a:bodyPr/>
          <a:lstStyle/>
          <a:p>
            <a:endParaRPr lang="ro-RO"/>
          </a:p>
        </p:txBody>
      </p:sp>
      <p:sp>
        <p:nvSpPr>
          <p:cNvPr id="54" name="icon-circle-214"/>
          <p:cNvSpPr/>
          <p:nvPr/>
        </p:nvSpPr>
        <p:spPr>
          <a:xfrm>
            <a:off x="10785348" y="4343400"/>
            <a:ext cx="566928" cy="566928"/>
          </a:xfrm>
          <a:prstGeom prst="ellipse">
            <a:avLst/>
          </a:prstGeom>
          <a:solidFill>
            <a:schemeClr val="accent3"/>
          </a:solidFill>
          <a:ln w="12700">
            <a:solidFill>
              <a:schemeClr val="accent3"/>
            </a:solidFill>
            <a:prstDash val="solid"/>
          </a:ln>
        </p:spPr>
        <p:txBody>
          <a:bodyPr/>
          <a:lstStyle/>
          <a:p>
            <a:endParaRPr lang="ro-RO"/>
          </a:p>
        </p:txBody>
      </p:sp>
      <p:pic>
        <p:nvPicPr>
          <p:cNvPr id="55" name="icon-215" descr="SwimmingPool icon"/>
          <p:cNvPicPr>
            <a:picLocks noChangeAspect="1"/>
          </p:cNvPicPr>
          <p:nvPr/>
        </p:nvPicPr>
        <p:blipFill>
          <a:blip r:embed="rId10"/>
          <a:stretch>
            <a:fillRect/>
          </a:stretch>
        </p:blipFill>
        <p:spPr>
          <a:xfrm>
            <a:off x="10938419" y="4496471"/>
            <a:ext cx="260787" cy="260787"/>
          </a:xfrm>
          <a:prstGeom prst="rect">
            <a:avLst/>
          </a:prstGeom>
        </p:spPr>
      </p:pic>
      <p:sp>
        <p:nvSpPr>
          <p:cNvPr id="56" name="text-216"/>
          <p:cNvSpPr txBox="1"/>
          <p:nvPr/>
        </p:nvSpPr>
        <p:spPr>
          <a:xfrm>
            <a:off x="10497312" y="5029200"/>
            <a:ext cx="1143000" cy="274320"/>
          </a:xfrm>
          <a:prstGeom prst="rect">
            <a:avLst/>
          </a:prstGeom>
          <a:noFill/>
          <a:ln/>
        </p:spPr>
        <p:txBody>
          <a:bodyPr wrap="square" lIns="0" tIns="0" rIns="0" bIns="0" rtlCol="0" anchor="t"/>
          <a:lstStyle/>
          <a:p>
            <a:pPr marL="0" indent="0" algn="ctr">
              <a:buNone/>
            </a:pPr>
            <a:r>
              <a:rPr lang="en-US" sz="1300" b="1" dirty="0">
                <a:solidFill>
                  <a:schemeClr val="bg1"/>
                </a:solidFill>
              </a:rPr>
              <a:t>Extras</a:t>
            </a:r>
            <a:endParaRPr lang="en-US" sz="1300" dirty="0"/>
          </a:p>
        </p:txBody>
      </p:sp>
      <p:sp>
        <p:nvSpPr>
          <p:cNvPr id="57" name="tier-dot-217"/>
          <p:cNvSpPr/>
          <p:nvPr/>
        </p:nvSpPr>
        <p:spPr>
          <a:xfrm>
            <a:off x="10684764"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58" name="tier-dot-218"/>
          <p:cNvSpPr/>
          <p:nvPr/>
        </p:nvSpPr>
        <p:spPr>
          <a:xfrm>
            <a:off x="10849356" y="5468112"/>
            <a:ext cx="109728" cy="109728"/>
          </a:xfrm>
          <a:prstGeom prst="ellipse">
            <a:avLst/>
          </a:prstGeom>
          <a:solidFill>
            <a:schemeClr val="accent1"/>
          </a:solidFill>
          <a:ln w="12700">
            <a:solidFill>
              <a:schemeClr val="accent1"/>
            </a:solidFill>
            <a:prstDash val="solid"/>
          </a:ln>
        </p:spPr>
        <p:txBody>
          <a:bodyPr/>
          <a:lstStyle/>
          <a:p>
            <a:endParaRPr lang="ro-RO"/>
          </a:p>
        </p:txBody>
      </p:sp>
      <p:sp>
        <p:nvSpPr>
          <p:cNvPr id="59" name="tier-dot-219"/>
          <p:cNvSpPr/>
          <p:nvPr/>
        </p:nvSpPr>
        <p:spPr>
          <a:xfrm>
            <a:off x="11013948"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60" name="tier-dot-220"/>
          <p:cNvSpPr/>
          <p:nvPr/>
        </p:nvSpPr>
        <p:spPr>
          <a:xfrm>
            <a:off x="11178540"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61" name="tier-dot-221"/>
          <p:cNvSpPr/>
          <p:nvPr/>
        </p:nvSpPr>
        <p:spPr>
          <a:xfrm>
            <a:off x="11343132" y="5468112"/>
            <a:ext cx="109728" cy="109728"/>
          </a:xfrm>
          <a:prstGeom prst="ellipse">
            <a:avLst/>
          </a:prstGeom>
          <a:solidFill>
            <a:schemeClr val="accent4"/>
          </a:solidFill>
          <a:ln w="12700">
            <a:solidFill>
              <a:schemeClr val="accent4"/>
            </a:solidFill>
            <a:prstDash val="solid"/>
          </a:ln>
        </p:spPr>
        <p:txBody>
          <a:bodyPr/>
          <a:lstStyle/>
          <a:p>
            <a:endParaRPr lang="ro-RO"/>
          </a:p>
        </p:txBody>
      </p:sp>
      <p:sp>
        <p:nvSpPr>
          <p:cNvPr id="62" name="text-222"/>
          <p:cNvSpPr txBox="1"/>
          <p:nvPr/>
        </p:nvSpPr>
        <p:spPr>
          <a:xfrm>
            <a:off x="10497312" y="5650992"/>
            <a:ext cx="1143000" cy="228600"/>
          </a:xfrm>
          <a:prstGeom prst="rect">
            <a:avLst/>
          </a:prstGeom>
          <a:noFill/>
          <a:ln/>
        </p:spPr>
        <p:txBody>
          <a:bodyPr wrap="square" lIns="0" tIns="0" rIns="0" bIns="0" rtlCol="0" anchor="t"/>
          <a:lstStyle/>
          <a:p>
            <a:pPr marL="0" indent="0" algn="ctr">
              <a:buNone/>
            </a:pPr>
            <a:r>
              <a:rPr lang="en-US" sz="1000" dirty="0">
                <a:solidFill>
                  <a:schemeClr val="accent2"/>
                </a:solidFill>
              </a:rPr>
              <a:t>tier 2</a:t>
            </a:r>
            <a:endParaRPr lang="en-US" sz="1000" dirty="0"/>
          </a:p>
        </p:txBody>
      </p:sp>
      <p:sp>
        <p:nvSpPr>
          <p:cNvPr id="63"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223"/>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MONEY FLOW</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From a coffee to a pension, in one tap</a:t>
            </a:r>
            <a:endParaRPr lang="en-US" sz="3600" dirty="0"/>
          </a:p>
        </p:txBody>
      </p:sp>
      <p:sp>
        <p:nvSpPr>
          <p:cNvPr id="4" name="card-224"/>
          <p:cNvSpPr/>
          <p:nvPr/>
        </p:nvSpPr>
        <p:spPr>
          <a:xfrm>
            <a:off x="548640" y="1691640"/>
            <a:ext cx="1920240" cy="2514600"/>
          </a:xfrm>
          <a:prstGeom prst="roundRect">
            <a:avLst>
              <a:gd name="adj" fmla="val 7619"/>
            </a:avLst>
          </a:prstGeom>
          <a:solidFill>
            <a:schemeClr val="tx2"/>
          </a:solidFill>
          <a:ln w="12700">
            <a:solidFill>
              <a:schemeClr val="accent4"/>
            </a:solidFill>
            <a:prstDash val="solid"/>
          </a:ln>
        </p:spPr>
        <p:txBody>
          <a:bodyPr/>
          <a:lstStyle/>
          <a:p>
            <a:endParaRPr lang="ro-RO"/>
          </a:p>
        </p:txBody>
      </p:sp>
      <p:sp>
        <p:nvSpPr>
          <p:cNvPr id="5" name="icon-circle-225"/>
          <p:cNvSpPr/>
          <p:nvPr/>
        </p:nvSpPr>
        <p:spPr>
          <a:xfrm>
            <a:off x="777240" y="1920240"/>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6" name="icon-226" descr="CreditCard icon"/>
          <p:cNvPicPr>
            <a:picLocks noChangeAspect="1"/>
          </p:cNvPicPr>
          <p:nvPr/>
        </p:nvPicPr>
        <p:blipFill>
          <a:blip r:embed="rId3"/>
          <a:stretch>
            <a:fillRect/>
          </a:stretch>
        </p:blipFill>
        <p:spPr>
          <a:xfrm>
            <a:off x="950062" y="2093062"/>
            <a:ext cx="294437" cy="294437"/>
          </a:xfrm>
          <a:prstGeom prst="rect">
            <a:avLst/>
          </a:prstGeom>
        </p:spPr>
      </p:pic>
      <p:sp>
        <p:nvSpPr>
          <p:cNvPr id="7" name="text-227"/>
          <p:cNvSpPr txBox="1"/>
          <p:nvPr/>
        </p:nvSpPr>
        <p:spPr>
          <a:xfrm>
            <a:off x="1920240" y="2011680"/>
            <a:ext cx="365760" cy="365760"/>
          </a:xfrm>
          <a:prstGeom prst="rect">
            <a:avLst/>
          </a:prstGeom>
          <a:noFill/>
          <a:ln/>
        </p:spPr>
        <p:txBody>
          <a:bodyPr wrap="square" lIns="0" tIns="0" rIns="0" bIns="0" rtlCol="0" anchor="ctr"/>
          <a:lstStyle/>
          <a:p>
            <a:pPr marL="0" indent="0" algn="r">
              <a:buNone/>
            </a:pPr>
            <a:r>
              <a:rPr lang="en-US" sz="1800" b="1" dirty="0">
                <a:solidFill>
                  <a:schemeClr val="accent5"/>
                </a:solidFill>
              </a:rPr>
              <a:t>1</a:t>
            </a:r>
            <a:endParaRPr lang="en-US" sz="1800" dirty="0"/>
          </a:p>
        </p:txBody>
      </p:sp>
      <p:sp>
        <p:nvSpPr>
          <p:cNvPr id="8" name="text-228"/>
          <p:cNvSpPr txBox="1"/>
          <p:nvPr/>
        </p:nvSpPr>
        <p:spPr>
          <a:xfrm>
            <a:off x="777240" y="2743200"/>
            <a:ext cx="1554480" cy="320040"/>
          </a:xfrm>
          <a:prstGeom prst="rect">
            <a:avLst/>
          </a:prstGeom>
          <a:noFill/>
          <a:ln/>
        </p:spPr>
        <p:txBody>
          <a:bodyPr wrap="square" lIns="0" tIns="0" rIns="0" bIns="0" rtlCol="0" anchor="t"/>
          <a:lstStyle/>
          <a:p>
            <a:pPr marL="0" indent="0">
              <a:buNone/>
            </a:pPr>
            <a:r>
              <a:rPr lang="en-US" sz="1600" b="1" dirty="0">
                <a:solidFill>
                  <a:schemeClr val="bg1"/>
                </a:solidFill>
              </a:rPr>
              <a:t>Card payment</a:t>
            </a:r>
            <a:endParaRPr lang="en-US" sz="1600" dirty="0"/>
          </a:p>
        </p:txBody>
      </p:sp>
      <p:sp>
        <p:nvSpPr>
          <p:cNvPr id="9" name="text-229"/>
          <p:cNvSpPr txBox="1"/>
          <p:nvPr/>
        </p:nvSpPr>
        <p:spPr>
          <a:xfrm>
            <a:off x="777240" y="3108960"/>
            <a:ext cx="1554480" cy="1005840"/>
          </a:xfrm>
          <a:prstGeom prst="rect">
            <a:avLst/>
          </a:prstGeom>
          <a:noFill/>
          <a:ln/>
        </p:spPr>
        <p:txBody>
          <a:bodyPr wrap="square" lIns="0" tIns="0" rIns="0" bIns="0" rtlCol="0" anchor="t"/>
          <a:lstStyle/>
          <a:p>
            <a:pPr marL="0" indent="0">
              <a:buNone/>
            </a:pPr>
            <a:r>
              <a:rPr lang="en-US" sz="1400" dirty="0">
                <a:solidFill>
                  <a:schemeClr val="accent2"/>
                </a:solidFill>
              </a:rPr>
              <a:t>Round-up goes in a counter. Nothing moves.</a:t>
            </a:r>
            <a:endParaRPr lang="en-US" sz="1400" dirty="0"/>
          </a:p>
        </p:txBody>
      </p:sp>
      <p:sp>
        <p:nvSpPr>
          <p:cNvPr id="10" name="arrow-230"/>
          <p:cNvSpPr/>
          <p:nvPr/>
        </p:nvSpPr>
        <p:spPr>
          <a:xfrm>
            <a:off x="2505456" y="2944368"/>
            <a:ext cx="299466" cy="0"/>
          </a:xfrm>
          <a:prstGeom prst="line">
            <a:avLst/>
          </a:prstGeom>
          <a:noFill/>
          <a:ln w="25400">
            <a:solidFill>
              <a:schemeClr val="accent2"/>
            </a:solidFill>
            <a:prstDash val="solid"/>
            <a:tailEnd type="triangle"/>
          </a:ln>
        </p:spPr>
        <p:txBody>
          <a:bodyPr/>
          <a:lstStyle/>
          <a:p>
            <a:endParaRPr lang="ro-RO"/>
          </a:p>
        </p:txBody>
      </p:sp>
      <p:sp>
        <p:nvSpPr>
          <p:cNvPr id="11" name="card-231"/>
          <p:cNvSpPr/>
          <p:nvPr/>
        </p:nvSpPr>
        <p:spPr>
          <a:xfrm>
            <a:off x="2841498" y="1691640"/>
            <a:ext cx="1920240" cy="2514600"/>
          </a:xfrm>
          <a:prstGeom prst="roundRect">
            <a:avLst>
              <a:gd name="adj" fmla="val 7619"/>
            </a:avLst>
          </a:prstGeom>
          <a:solidFill>
            <a:schemeClr val="tx2"/>
          </a:solidFill>
          <a:ln w="12700">
            <a:solidFill>
              <a:schemeClr val="accent4"/>
            </a:solidFill>
            <a:prstDash val="solid"/>
          </a:ln>
        </p:spPr>
        <p:txBody>
          <a:bodyPr/>
          <a:lstStyle/>
          <a:p>
            <a:endParaRPr lang="ro-RO"/>
          </a:p>
        </p:txBody>
      </p:sp>
      <p:sp>
        <p:nvSpPr>
          <p:cNvPr id="12" name="icon-circle-232"/>
          <p:cNvSpPr/>
          <p:nvPr/>
        </p:nvSpPr>
        <p:spPr>
          <a:xfrm>
            <a:off x="3070098" y="1920240"/>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13" name="icon-233" descr="Robot icon"/>
          <p:cNvPicPr>
            <a:picLocks noChangeAspect="1"/>
          </p:cNvPicPr>
          <p:nvPr/>
        </p:nvPicPr>
        <p:blipFill>
          <a:blip r:embed="rId4"/>
          <a:stretch>
            <a:fillRect/>
          </a:stretch>
        </p:blipFill>
        <p:spPr>
          <a:xfrm>
            <a:off x="3242920" y="2093062"/>
            <a:ext cx="294437" cy="294437"/>
          </a:xfrm>
          <a:prstGeom prst="rect">
            <a:avLst/>
          </a:prstGeom>
        </p:spPr>
      </p:pic>
      <p:sp>
        <p:nvSpPr>
          <p:cNvPr id="14" name="text-234"/>
          <p:cNvSpPr txBox="1"/>
          <p:nvPr/>
        </p:nvSpPr>
        <p:spPr>
          <a:xfrm>
            <a:off x="4213098" y="2011680"/>
            <a:ext cx="365760" cy="365760"/>
          </a:xfrm>
          <a:prstGeom prst="rect">
            <a:avLst/>
          </a:prstGeom>
          <a:noFill/>
          <a:ln/>
        </p:spPr>
        <p:txBody>
          <a:bodyPr wrap="square" lIns="0" tIns="0" rIns="0" bIns="0" rtlCol="0" anchor="ctr"/>
          <a:lstStyle/>
          <a:p>
            <a:pPr marL="0" indent="0" algn="r">
              <a:buNone/>
            </a:pPr>
            <a:r>
              <a:rPr lang="en-US" sz="1800" b="1" dirty="0">
                <a:solidFill>
                  <a:schemeClr val="accent5"/>
                </a:solidFill>
              </a:rPr>
              <a:t>2</a:t>
            </a:r>
            <a:endParaRPr lang="en-US" sz="1800" dirty="0"/>
          </a:p>
        </p:txBody>
      </p:sp>
      <p:sp>
        <p:nvSpPr>
          <p:cNvPr id="15" name="text-235"/>
          <p:cNvSpPr txBox="1"/>
          <p:nvPr/>
        </p:nvSpPr>
        <p:spPr>
          <a:xfrm>
            <a:off x="3070098" y="2743200"/>
            <a:ext cx="1554480" cy="320040"/>
          </a:xfrm>
          <a:prstGeom prst="rect">
            <a:avLst/>
          </a:prstGeom>
          <a:noFill/>
          <a:ln/>
        </p:spPr>
        <p:txBody>
          <a:bodyPr wrap="square" lIns="0" tIns="0" rIns="0" bIns="0" rtlCol="0" anchor="t"/>
          <a:lstStyle/>
          <a:p>
            <a:pPr marL="0" indent="0">
              <a:buNone/>
            </a:pPr>
            <a:r>
              <a:rPr lang="en-US" sz="1600" b="1" dirty="0">
                <a:solidFill>
                  <a:schemeClr val="bg1"/>
                </a:solidFill>
              </a:rPr>
              <a:t>Month-end offer</a:t>
            </a:r>
            <a:endParaRPr lang="en-US" sz="1600" dirty="0"/>
          </a:p>
        </p:txBody>
      </p:sp>
      <p:sp>
        <p:nvSpPr>
          <p:cNvPr id="16" name="text-236"/>
          <p:cNvSpPr txBox="1"/>
          <p:nvPr/>
        </p:nvSpPr>
        <p:spPr>
          <a:xfrm>
            <a:off x="3070098" y="3108960"/>
            <a:ext cx="1554480" cy="1005840"/>
          </a:xfrm>
          <a:prstGeom prst="rect">
            <a:avLst/>
          </a:prstGeom>
          <a:noFill/>
          <a:ln/>
        </p:spPr>
        <p:txBody>
          <a:bodyPr wrap="square" lIns="0" tIns="0" rIns="0" bIns="0" rtlCol="0" anchor="t"/>
          <a:lstStyle/>
          <a:p>
            <a:pPr marL="0" indent="0">
              <a:buNone/>
            </a:pPr>
            <a:r>
              <a:rPr lang="en-US" sz="1400" dirty="0">
                <a:solidFill>
                  <a:schemeClr val="accent2"/>
                </a:solidFill>
              </a:rPr>
              <a:t>AI asks: add 179 RON to your Pillar III?</a:t>
            </a:r>
            <a:endParaRPr lang="en-US" sz="1400" dirty="0"/>
          </a:p>
        </p:txBody>
      </p:sp>
      <p:sp>
        <p:nvSpPr>
          <p:cNvPr id="17" name="arrow-237"/>
          <p:cNvSpPr/>
          <p:nvPr/>
        </p:nvSpPr>
        <p:spPr>
          <a:xfrm>
            <a:off x="4798314" y="2944368"/>
            <a:ext cx="299466" cy="0"/>
          </a:xfrm>
          <a:prstGeom prst="line">
            <a:avLst/>
          </a:prstGeom>
          <a:noFill/>
          <a:ln w="25400">
            <a:solidFill>
              <a:schemeClr val="accent2"/>
            </a:solidFill>
            <a:prstDash val="solid"/>
            <a:tailEnd type="triangle"/>
          </a:ln>
        </p:spPr>
        <p:txBody>
          <a:bodyPr/>
          <a:lstStyle/>
          <a:p>
            <a:endParaRPr lang="ro-RO"/>
          </a:p>
        </p:txBody>
      </p:sp>
      <p:sp>
        <p:nvSpPr>
          <p:cNvPr id="18" name="card-238"/>
          <p:cNvSpPr/>
          <p:nvPr/>
        </p:nvSpPr>
        <p:spPr>
          <a:xfrm>
            <a:off x="5134356" y="1691640"/>
            <a:ext cx="1920240" cy="2514600"/>
          </a:xfrm>
          <a:prstGeom prst="roundRect">
            <a:avLst>
              <a:gd name="adj" fmla="val 7619"/>
            </a:avLst>
          </a:prstGeom>
          <a:solidFill>
            <a:schemeClr val="tx2"/>
          </a:solidFill>
          <a:ln w="12700">
            <a:solidFill>
              <a:schemeClr val="accent4"/>
            </a:solidFill>
            <a:prstDash val="solid"/>
          </a:ln>
        </p:spPr>
        <p:txBody>
          <a:bodyPr/>
          <a:lstStyle/>
          <a:p>
            <a:endParaRPr lang="ro-RO"/>
          </a:p>
        </p:txBody>
      </p:sp>
      <p:sp>
        <p:nvSpPr>
          <p:cNvPr id="19" name="icon-circle-239"/>
          <p:cNvSpPr/>
          <p:nvPr/>
        </p:nvSpPr>
        <p:spPr>
          <a:xfrm>
            <a:off x="5362956" y="1920240"/>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20" name="icon-240" descr="Stripe icon"/>
          <p:cNvPicPr>
            <a:picLocks noChangeAspect="1"/>
          </p:cNvPicPr>
          <p:nvPr/>
        </p:nvPicPr>
        <p:blipFill>
          <a:blip r:embed="rId5"/>
          <a:stretch>
            <a:fillRect/>
          </a:stretch>
        </p:blipFill>
        <p:spPr>
          <a:xfrm>
            <a:off x="5535778" y="2093062"/>
            <a:ext cx="294437" cy="294437"/>
          </a:xfrm>
          <a:prstGeom prst="rect">
            <a:avLst/>
          </a:prstGeom>
        </p:spPr>
      </p:pic>
      <p:sp>
        <p:nvSpPr>
          <p:cNvPr id="21" name="text-241"/>
          <p:cNvSpPr txBox="1"/>
          <p:nvPr/>
        </p:nvSpPr>
        <p:spPr>
          <a:xfrm>
            <a:off x="6505956" y="2011680"/>
            <a:ext cx="365760" cy="365760"/>
          </a:xfrm>
          <a:prstGeom prst="rect">
            <a:avLst/>
          </a:prstGeom>
          <a:noFill/>
          <a:ln/>
        </p:spPr>
        <p:txBody>
          <a:bodyPr wrap="square" lIns="0" tIns="0" rIns="0" bIns="0" rtlCol="0" anchor="ctr"/>
          <a:lstStyle/>
          <a:p>
            <a:pPr marL="0" indent="0" algn="r">
              <a:buNone/>
            </a:pPr>
            <a:r>
              <a:rPr lang="en-US" sz="1800" b="1" dirty="0">
                <a:solidFill>
                  <a:schemeClr val="accent5"/>
                </a:solidFill>
              </a:rPr>
              <a:t>3</a:t>
            </a:r>
            <a:endParaRPr lang="en-US" sz="1800" dirty="0"/>
          </a:p>
        </p:txBody>
      </p:sp>
      <p:sp>
        <p:nvSpPr>
          <p:cNvPr id="22" name="text-242"/>
          <p:cNvSpPr txBox="1"/>
          <p:nvPr/>
        </p:nvSpPr>
        <p:spPr>
          <a:xfrm>
            <a:off x="5362956" y="2743200"/>
            <a:ext cx="1554480" cy="320040"/>
          </a:xfrm>
          <a:prstGeom prst="rect">
            <a:avLst/>
          </a:prstGeom>
          <a:noFill/>
          <a:ln/>
        </p:spPr>
        <p:txBody>
          <a:bodyPr wrap="square" lIns="0" tIns="0" rIns="0" bIns="0" rtlCol="0" anchor="t"/>
          <a:lstStyle/>
          <a:p>
            <a:pPr marL="0" indent="0">
              <a:buNone/>
            </a:pPr>
            <a:r>
              <a:rPr lang="en-US" sz="1600" b="1" dirty="0">
                <a:solidFill>
                  <a:schemeClr val="bg1"/>
                </a:solidFill>
              </a:rPr>
              <a:t>One tap</a:t>
            </a:r>
            <a:endParaRPr lang="en-US" sz="1600" dirty="0"/>
          </a:p>
        </p:txBody>
      </p:sp>
      <p:sp>
        <p:nvSpPr>
          <p:cNvPr id="23" name="text-243"/>
          <p:cNvSpPr txBox="1"/>
          <p:nvPr/>
        </p:nvSpPr>
        <p:spPr>
          <a:xfrm>
            <a:off x="5362956" y="3108960"/>
            <a:ext cx="1554480" cy="1005840"/>
          </a:xfrm>
          <a:prstGeom prst="rect">
            <a:avLst/>
          </a:prstGeom>
          <a:noFill/>
          <a:ln/>
        </p:spPr>
        <p:txBody>
          <a:bodyPr wrap="square" lIns="0" tIns="0" rIns="0" bIns="0" rtlCol="0" anchor="t"/>
          <a:lstStyle/>
          <a:p>
            <a:pPr marL="0" indent="0">
              <a:buNone/>
            </a:pPr>
            <a:r>
              <a:rPr lang="en-US" sz="1400" dirty="0">
                <a:solidFill>
                  <a:schemeClr val="accent2"/>
                </a:solidFill>
              </a:rPr>
              <a:t>Stripe charges the card. A webhook confirms.</a:t>
            </a:r>
            <a:endParaRPr lang="en-US" sz="1400" dirty="0"/>
          </a:p>
        </p:txBody>
      </p:sp>
      <p:sp>
        <p:nvSpPr>
          <p:cNvPr id="24" name="arrow-244"/>
          <p:cNvSpPr/>
          <p:nvPr/>
        </p:nvSpPr>
        <p:spPr>
          <a:xfrm>
            <a:off x="7091172" y="2944368"/>
            <a:ext cx="299466" cy="0"/>
          </a:xfrm>
          <a:prstGeom prst="line">
            <a:avLst/>
          </a:prstGeom>
          <a:noFill/>
          <a:ln w="25400">
            <a:solidFill>
              <a:schemeClr val="accent2"/>
            </a:solidFill>
            <a:prstDash val="solid"/>
            <a:tailEnd type="triangle"/>
          </a:ln>
        </p:spPr>
        <p:txBody>
          <a:bodyPr/>
          <a:lstStyle/>
          <a:p>
            <a:endParaRPr lang="ro-RO"/>
          </a:p>
        </p:txBody>
      </p:sp>
      <p:sp>
        <p:nvSpPr>
          <p:cNvPr id="25" name="card-245"/>
          <p:cNvSpPr/>
          <p:nvPr/>
        </p:nvSpPr>
        <p:spPr>
          <a:xfrm>
            <a:off x="7427214" y="1691640"/>
            <a:ext cx="1920240" cy="2514600"/>
          </a:xfrm>
          <a:prstGeom prst="roundRect">
            <a:avLst>
              <a:gd name="adj" fmla="val 7619"/>
            </a:avLst>
          </a:prstGeom>
          <a:solidFill>
            <a:schemeClr val="tx2"/>
          </a:solidFill>
          <a:ln w="12700">
            <a:solidFill>
              <a:schemeClr val="accent4"/>
            </a:solidFill>
            <a:prstDash val="solid"/>
          </a:ln>
        </p:spPr>
        <p:txBody>
          <a:bodyPr/>
          <a:lstStyle/>
          <a:p>
            <a:endParaRPr lang="ro-RO"/>
          </a:p>
        </p:txBody>
      </p:sp>
      <p:sp>
        <p:nvSpPr>
          <p:cNvPr id="26" name="icon-circle-246"/>
          <p:cNvSpPr/>
          <p:nvPr/>
        </p:nvSpPr>
        <p:spPr>
          <a:xfrm>
            <a:off x="7655814" y="1920240"/>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27" name="icon-247" descr="University icon"/>
          <p:cNvPicPr>
            <a:picLocks noChangeAspect="1"/>
          </p:cNvPicPr>
          <p:nvPr/>
        </p:nvPicPr>
        <p:blipFill>
          <a:blip r:embed="rId6"/>
          <a:stretch>
            <a:fillRect/>
          </a:stretch>
        </p:blipFill>
        <p:spPr>
          <a:xfrm>
            <a:off x="7828636" y="2093062"/>
            <a:ext cx="294437" cy="294437"/>
          </a:xfrm>
          <a:prstGeom prst="rect">
            <a:avLst/>
          </a:prstGeom>
        </p:spPr>
      </p:pic>
      <p:sp>
        <p:nvSpPr>
          <p:cNvPr id="28" name="text-248"/>
          <p:cNvSpPr txBox="1"/>
          <p:nvPr/>
        </p:nvSpPr>
        <p:spPr>
          <a:xfrm>
            <a:off x="8798814" y="2011680"/>
            <a:ext cx="365760" cy="365760"/>
          </a:xfrm>
          <a:prstGeom prst="rect">
            <a:avLst/>
          </a:prstGeom>
          <a:noFill/>
          <a:ln/>
        </p:spPr>
        <p:txBody>
          <a:bodyPr wrap="square" lIns="0" tIns="0" rIns="0" bIns="0" rtlCol="0" anchor="ctr"/>
          <a:lstStyle/>
          <a:p>
            <a:pPr marL="0" indent="0" algn="r">
              <a:buNone/>
            </a:pPr>
            <a:r>
              <a:rPr lang="en-US" sz="1800" b="1" dirty="0">
                <a:solidFill>
                  <a:schemeClr val="accent5"/>
                </a:solidFill>
              </a:rPr>
              <a:t>4</a:t>
            </a:r>
            <a:endParaRPr lang="en-US" sz="1800" dirty="0"/>
          </a:p>
        </p:txBody>
      </p:sp>
      <p:sp>
        <p:nvSpPr>
          <p:cNvPr id="29" name="text-249"/>
          <p:cNvSpPr txBox="1"/>
          <p:nvPr/>
        </p:nvSpPr>
        <p:spPr>
          <a:xfrm>
            <a:off x="7655814" y="2743200"/>
            <a:ext cx="1554480" cy="320040"/>
          </a:xfrm>
          <a:prstGeom prst="rect">
            <a:avLst/>
          </a:prstGeom>
          <a:noFill/>
          <a:ln/>
        </p:spPr>
        <p:txBody>
          <a:bodyPr wrap="square" lIns="0" tIns="0" rIns="0" bIns="0" rtlCol="0" anchor="t"/>
          <a:lstStyle/>
          <a:p>
            <a:pPr marL="0" indent="0">
              <a:buNone/>
            </a:pPr>
            <a:r>
              <a:rPr lang="en-US" sz="1600" b="1" dirty="0">
                <a:solidFill>
                  <a:schemeClr val="bg1"/>
                </a:solidFill>
              </a:rPr>
              <a:t>One-month hold</a:t>
            </a:r>
            <a:endParaRPr lang="en-US" sz="1600" dirty="0"/>
          </a:p>
        </p:txBody>
      </p:sp>
      <p:sp>
        <p:nvSpPr>
          <p:cNvPr id="30" name="text-250"/>
          <p:cNvSpPr txBox="1"/>
          <p:nvPr/>
        </p:nvSpPr>
        <p:spPr>
          <a:xfrm>
            <a:off x="7655814" y="3108960"/>
            <a:ext cx="1554480" cy="1005840"/>
          </a:xfrm>
          <a:prstGeom prst="rect">
            <a:avLst/>
          </a:prstGeom>
          <a:noFill/>
          <a:ln/>
        </p:spPr>
        <p:txBody>
          <a:bodyPr wrap="square" lIns="0" tIns="0" rIns="0" bIns="0" rtlCol="0" anchor="t"/>
          <a:lstStyle/>
          <a:p>
            <a:pPr marL="0" indent="0">
              <a:buNone/>
            </a:pPr>
            <a:r>
              <a:rPr lang="en-US" sz="1400" dirty="0">
                <a:solidFill>
                  <a:schemeClr val="accent2"/>
                </a:solidFill>
              </a:rPr>
              <a:t>A licensed partner holds it for a month.</a:t>
            </a:r>
            <a:endParaRPr lang="en-US" sz="1400" dirty="0"/>
          </a:p>
        </p:txBody>
      </p:sp>
      <p:sp>
        <p:nvSpPr>
          <p:cNvPr id="31" name="arrow-251"/>
          <p:cNvSpPr/>
          <p:nvPr/>
        </p:nvSpPr>
        <p:spPr>
          <a:xfrm>
            <a:off x="9384030" y="2944368"/>
            <a:ext cx="299466" cy="0"/>
          </a:xfrm>
          <a:prstGeom prst="line">
            <a:avLst/>
          </a:prstGeom>
          <a:noFill/>
          <a:ln w="25400">
            <a:solidFill>
              <a:schemeClr val="accent2"/>
            </a:solidFill>
            <a:prstDash val="solid"/>
            <a:tailEnd type="triangle"/>
          </a:ln>
        </p:spPr>
        <p:txBody>
          <a:bodyPr/>
          <a:lstStyle/>
          <a:p>
            <a:endParaRPr lang="ro-RO"/>
          </a:p>
        </p:txBody>
      </p:sp>
      <p:sp>
        <p:nvSpPr>
          <p:cNvPr id="32" name="card-252"/>
          <p:cNvSpPr/>
          <p:nvPr/>
        </p:nvSpPr>
        <p:spPr>
          <a:xfrm>
            <a:off x="9720072" y="1691640"/>
            <a:ext cx="1920240" cy="2514600"/>
          </a:xfrm>
          <a:prstGeom prst="roundRect">
            <a:avLst>
              <a:gd name="adj" fmla="val 7619"/>
            </a:avLst>
          </a:prstGeom>
          <a:solidFill>
            <a:schemeClr val="tx2"/>
          </a:solidFill>
          <a:ln w="12700">
            <a:solidFill>
              <a:schemeClr val="accent4"/>
            </a:solidFill>
            <a:prstDash val="solid"/>
          </a:ln>
        </p:spPr>
        <p:txBody>
          <a:bodyPr/>
          <a:lstStyle/>
          <a:p>
            <a:endParaRPr lang="ro-RO"/>
          </a:p>
        </p:txBody>
      </p:sp>
      <p:sp>
        <p:nvSpPr>
          <p:cNvPr id="33" name="icon-circle-253"/>
          <p:cNvSpPr/>
          <p:nvPr/>
        </p:nvSpPr>
        <p:spPr>
          <a:xfrm>
            <a:off x="9948672" y="1920240"/>
            <a:ext cx="640080" cy="640080"/>
          </a:xfrm>
          <a:prstGeom prst="ellipse">
            <a:avLst/>
          </a:prstGeom>
          <a:solidFill>
            <a:schemeClr val="accent3"/>
          </a:solidFill>
          <a:ln w="12700">
            <a:solidFill>
              <a:schemeClr val="accent3"/>
            </a:solidFill>
            <a:prstDash val="solid"/>
          </a:ln>
        </p:spPr>
        <p:txBody>
          <a:bodyPr/>
          <a:lstStyle/>
          <a:p>
            <a:endParaRPr lang="ro-RO"/>
          </a:p>
        </p:txBody>
      </p:sp>
      <p:pic>
        <p:nvPicPr>
          <p:cNvPr id="34" name="icon-254" descr="PiggyBank icon"/>
          <p:cNvPicPr>
            <a:picLocks noChangeAspect="1"/>
          </p:cNvPicPr>
          <p:nvPr/>
        </p:nvPicPr>
        <p:blipFill>
          <a:blip r:embed="rId7"/>
          <a:stretch>
            <a:fillRect/>
          </a:stretch>
        </p:blipFill>
        <p:spPr>
          <a:xfrm>
            <a:off x="10121494" y="2093062"/>
            <a:ext cx="294437" cy="294437"/>
          </a:xfrm>
          <a:prstGeom prst="rect">
            <a:avLst/>
          </a:prstGeom>
        </p:spPr>
      </p:pic>
      <p:sp>
        <p:nvSpPr>
          <p:cNvPr id="35" name="text-255"/>
          <p:cNvSpPr txBox="1"/>
          <p:nvPr/>
        </p:nvSpPr>
        <p:spPr>
          <a:xfrm>
            <a:off x="11091672" y="2011680"/>
            <a:ext cx="365760" cy="365760"/>
          </a:xfrm>
          <a:prstGeom prst="rect">
            <a:avLst/>
          </a:prstGeom>
          <a:noFill/>
          <a:ln/>
        </p:spPr>
        <p:txBody>
          <a:bodyPr wrap="square" lIns="0" tIns="0" rIns="0" bIns="0" rtlCol="0" anchor="ctr"/>
          <a:lstStyle/>
          <a:p>
            <a:pPr marL="0" indent="0" algn="r">
              <a:buNone/>
            </a:pPr>
            <a:r>
              <a:rPr lang="en-US" sz="1800" b="1" dirty="0">
                <a:solidFill>
                  <a:schemeClr val="accent5"/>
                </a:solidFill>
              </a:rPr>
              <a:t>5</a:t>
            </a:r>
            <a:endParaRPr lang="en-US" sz="1800" dirty="0"/>
          </a:p>
        </p:txBody>
      </p:sp>
      <p:sp>
        <p:nvSpPr>
          <p:cNvPr id="36" name="text-256"/>
          <p:cNvSpPr txBox="1"/>
          <p:nvPr/>
        </p:nvSpPr>
        <p:spPr>
          <a:xfrm>
            <a:off x="9948672" y="2743200"/>
            <a:ext cx="1554480" cy="320040"/>
          </a:xfrm>
          <a:prstGeom prst="rect">
            <a:avLst/>
          </a:prstGeom>
          <a:noFill/>
          <a:ln/>
        </p:spPr>
        <p:txBody>
          <a:bodyPr wrap="square" lIns="0" tIns="0" rIns="0" bIns="0" rtlCol="0" anchor="t"/>
          <a:lstStyle/>
          <a:p>
            <a:pPr marL="0" indent="0">
              <a:buNone/>
            </a:pPr>
            <a:r>
              <a:rPr lang="en-US" sz="1600" b="1" dirty="0">
                <a:solidFill>
                  <a:schemeClr val="bg1"/>
                </a:solidFill>
              </a:rPr>
              <a:t>Pillar III</a:t>
            </a:r>
            <a:endParaRPr lang="en-US" sz="1600" dirty="0"/>
          </a:p>
        </p:txBody>
      </p:sp>
      <p:sp>
        <p:nvSpPr>
          <p:cNvPr id="37" name="text-257"/>
          <p:cNvSpPr txBox="1"/>
          <p:nvPr/>
        </p:nvSpPr>
        <p:spPr>
          <a:xfrm>
            <a:off x="9948672" y="3108960"/>
            <a:ext cx="1554480" cy="1005840"/>
          </a:xfrm>
          <a:prstGeom prst="rect">
            <a:avLst/>
          </a:prstGeom>
          <a:noFill/>
          <a:ln/>
        </p:spPr>
        <p:txBody>
          <a:bodyPr wrap="square" lIns="0" tIns="0" rIns="0" bIns="0" rtlCol="0" anchor="t"/>
          <a:lstStyle/>
          <a:p>
            <a:pPr marL="0" indent="0">
              <a:buNone/>
            </a:pPr>
            <a:r>
              <a:rPr lang="en-US" sz="1400" dirty="0">
                <a:solidFill>
                  <a:schemeClr val="accent2"/>
                </a:solidFill>
              </a:rPr>
              <a:t>Units are bought in the pension fund.</a:t>
            </a:r>
            <a:endParaRPr lang="en-US" sz="1400" dirty="0"/>
          </a:p>
        </p:txBody>
      </p:sp>
      <p:sp>
        <p:nvSpPr>
          <p:cNvPr id="38" name="card-258"/>
          <p:cNvSpPr/>
          <p:nvPr/>
        </p:nvSpPr>
        <p:spPr>
          <a:xfrm>
            <a:off x="548640" y="4526280"/>
            <a:ext cx="5394960" cy="1463040"/>
          </a:xfrm>
          <a:prstGeom prst="roundRect">
            <a:avLst>
              <a:gd name="adj" fmla="val 10000"/>
            </a:avLst>
          </a:prstGeom>
          <a:solidFill>
            <a:schemeClr val="accent6"/>
          </a:solidFill>
          <a:ln w="12700">
            <a:solidFill>
              <a:schemeClr val="accent4"/>
            </a:solidFill>
            <a:prstDash val="solid"/>
          </a:ln>
        </p:spPr>
        <p:txBody>
          <a:bodyPr/>
          <a:lstStyle/>
          <a:p>
            <a:endParaRPr lang="ro-RO"/>
          </a:p>
        </p:txBody>
      </p:sp>
      <p:sp>
        <p:nvSpPr>
          <p:cNvPr id="39" name="icon-circle-259"/>
          <p:cNvSpPr/>
          <p:nvPr/>
        </p:nvSpPr>
        <p:spPr>
          <a:xfrm>
            <a:off x="822960" y="4754880"/>
            <a:ext cx="640080" cy="640080"/>
          </a:xfrm>
          <a:prstGeom prst="ellipse">
            <a:avLst/>
          </a:prstGeom>
          <a:solidFill>
            <a:schemeClr val="accent1"/>
          </a:solidFill>
          <a:ln w="12700">
            <a:solidFill>
              <a:schemeClr val="accent1"/>
            </a:solidFill>
            <a:prstDash val="solid"/>
          </a:ln>
        </p:spPr>
        <p:txBody>
          <a:bodyPr/>
          <a:lstStyle/>
          <a:p>
            <a:endParaRPr lang="ro-RO"/>
          </a:p>
        </p:txBody>
      </p:sp>
      <p:pic>
        <p:nvPicPr>
          <p:cNvPr id="40" name="icon-260" descr="Coins icon"/>
          <p:cNvPicPr>
            <a:picLocks noChangeAspect="1"/>
          </p:cNvPicPr>
          <p:nvPr/>
        </p:nvPicPr>
        <p:blipFill>
          <a:blip r:embed="rId8"/>
          <a:stretch>
            <a:fillRect/>
          </a:stretch>
        </p:blipFill>
        <p:spPr>
          <a:xfrm>
            <a:off x="995782" y="4927702"/>
            <a:ext cx="294437" cy="294437"/>
          </a:xfrm>
          <a:prstGeom prst="rect">
            <a:avLst/>
          </a:prstGeom>
        </p:spPr>
      </p:pic>
      <p:sp>
        <p:nvSpPr>
          <p:cNvPr id="41" name="text-261"/>
          <p:cNvSpPr txBox="1"/>
          <p:nvPr/>
        </p:nvSpPr>
        <p:spPr>
          <a:xfrm>
            <a:off x="1645920" y="4709160"/>
            <a:ext cx="4069080" cy="365760"/>
          </a:xfrm>
          <a:prstGeom prst="rect">
            <a:avLst/>
          </a:prstGeom>
          <a:noFill/>
          <a:ln/>
        </p:spPr>
        <p:txBody>
          <a:bodyPr wrap="square" lIns="0" tIns="0" rIns="0" bIns="0" rtlCol="0" anchor="t"/>
          <a:lstStyle/>
          <a:p>
            <a:pPr marL="0" indent="0">
              <a:buNone/>
            </a:pPr>
            <a:r>
              <a:rPr lang="en-US" sz="1800" b="1" dirty="0">
                <a:solidFill>
                  <a:schemeClr val="bg1"/>
                </a:solidFill>
              </a:rPr>
              <a:t>Business model</a:t>
            </a:r>
            <a:endParaRPr lang="en-US" sz="1800" dirty="0"/>
          </a:p>
        </p:txBody>
      </p:sp>
      <p:sp>
        <p:nvSpPr>
          <p:cNvPr id="42" name="text-262"/>
          <p:cNvSpPr txBox="1"/>
          <p:nvPr/>
        </p:nvSpPr>
        <p:spPr>
          <a:xfrm>
            <a:off x="1645920" y="5102352"/>
            <a:ext cx="4069080" cy="822960"/>
          </a:xfrm>
          <a:prstGeom prst="rect">
            <a:avLst/>
          </a:prstGeom>
          <a:noFill/>
          <a:ln/>
        </p:spPr>
        <p:txBody>
          <a:bodyPr wrap="square" lIns="0" tIns="0" rIns="0" bIns="0" rtlCol="0" anchor="t"/>
          <a:lstStyle/>
          <a:p>
            <a:pPr marL="0" indent="0">
              <a:buNone/>
            </a:pPr>
            <a:r>
              <a:rPr lang="en-US" sz="1500" dirty="0">
                <a:solidFill>
                  <a:schemeClr val="accent2"/>
                </a:solidFill>
              </a:rPr>
              <a:t>The interest on that one-month hold keeps the app free. It's stated on the confirm screen and in the terms.</a:t>
            </a:r>
            <a:endParaRPr lang="en-US" sz="1500" dirty="0"/>
          </a:p>
        </p:txBody>
      </p:sp>
      <p:sp>
        <p:nvSpPr>
          <p:cNvPr id="43" name="card-263"/>
          <p:cNvSpPr/>
          <p:nvPr/>
        </p:nvSpPr>
        <p:spPr>
          <a:xfrm>
            <a:off x="6245352" y="4526280"/>
            <a:ext cx="5394960" cy="1463040"/>
          </a:xfrm>
          <a:prstGeom prst="roundRect">
            <a:avLst>
              <a:gd name="adj" fmla="val 10000"/>
            </a:avLst>
          </a:prstGeom>
          <a:solidFill>
            <a:schemeClr val="accent6"/>
          </a:solidFill>
          <a:ln w="12700">
            <a:solidFill>
              <a:schemeClr val="accent4"/>
            </a:solidFill>
            <a:prstDash val="solid"/>
          </a:ln>
        </p:spPr>
        <p:txBody>
          <a:bodyPr/>
          <a:lstStyle/>
          <a:p>
            <a:endParaRPr lang="ro-RO"/>
          </a:p>
        </p:txBody>
      </p:sp>
      <p:sp>
        <p:nvSpPr>
          <p:cNvPr id="44" name="icon-circle-264"/>
          <p:cNvSpPr/>
          <p:nvPr/>
        </p:nvSpPr>
        <p:spPr>
          <a:xfrm>
            <a:off x="6519672" y="4754880"/>
            <a:ext cx="640080" cy="640080"/>
          </a:xfrm>
          <a:prstGeom prst="ellipse">
            <a:avLst/>
          </a:prstGeom>
          <a:solidFill>
            <a:schemeClr val="accent1"/>
          </a:solidFill>
          <a:ln w="12700">
            <a:solidFill>
              <a:schemeClr val="accent1"/>
            </a:solidFill>
            <a:prstDash val="solid"/>
          </a:ln>
        </p:spPr>
        <p:txBody>
          <a:bodyPr/>
          <a:lstStyle/>
          <a:p>
            <a:endParaRPr lang="ro-RO"/>
          </a:p>
        </p:txBody>
      </p:sp>
      <p:pic>
        <p:nvPicPr>
          <p:cNvPr id="45" name="icon-265" descr="Lock icon"/>
          <p:cNvPicPr>
            <a:picLocks noChangeAspect="1"/>
          </p:cNvPicPr>
          <p:nvPr/>
        </p:nvPicPr>
        <p:blipFill>
          <a:blip r:embed="rId9"/>
          <a:stretch>
            <a:fillRect/>
          </a:stretch>
        </p:blipFill>
        <p:spPr>
          <a:xfrm>
            <a:off x="6692494" y="4927702"/>
            <a:ext cx="294437" cy="294437"/>
          </a:xfrm>
          <a:prstGeom prst="rect">
            <a:avLst/>
          </a:prstGeom>
        </p:spPr>
      </p:pic>
      <p:sp>
        <p:nvSpPr>
          <p:cNvPr id="46" name="text-266"/>
          <p:cNvSpPr txBox="1"/>
          <p:nvPr/>
        </p:nvSpPr>
        <p:spPr>
          <a:xfrm>
            <a:off x="7342632" y="4709160"/>
            <a:ext cx="4069080" cy="365760"/>
          </a:xfrm>
          <a:prstGeom prst="rect">
            <a:avLst/>
          </a:prstGeom>
          <a:noFill/>
          <a:ln/>
        </p:spPr>
        <p:txBody>
          <a:bodyPr wrap="square" lIns="0" tIns="0" rIns="0" bIns="0" rtlCol="0" anchor="t"/>
          <a:lstStyle/>
          <a:p>
            <a:pPr marL="0" indent="0">
              <a:buNone/>
            </a:pPr>
            <a:r>
              <a:rPr lang="en-US" sz="1800" b="1" dirty="0">
                <a:solidFill>
                  <a:schemeClr val="bg1"/>
                </a:solidFill>
              </a:rPr>
              <a:t>Card safety</a:t>
            </a:r>
            <a:endParaRPr lang="en-US" sz="1800" dirty="0"/>
          </a:p>
        </p:txBody>
      </p:sp>
      <p:sp>
        <p:nvSpPr>
          <p:cNvPr id="47" name="text-267"/>
          <p:cNvSpPr txBox="1"/>
          <p:nvPr/>
        </p:nvSpPr>
        <p:spPr>
          <a:xfrm>
            <a:off x="7342632" y="5102352"/>
            <a:ext cx="4069080" cy="822960"/>
          </a:xfrm>
          <a:prstGeom prst="rect">
            <a:avLst/>
          </a:prstGeom>
          <a:noFill/>
          <a:ln/>
        </p:spPr>
        <p:txBody>
          <a:bodyPr wrap="square" lIns="0" tIns="0" rIns="0" bIns="0" rtlCol="0" anchor="t"/>
          <a:lstStyle/>
          <a:p>
            <a:pPr marL="0" indent="0">
              <a:buNone/>
            </a:pPr>
            <a:r>
              <a:rPr lang="en-US" sz="1500" dirty="0">
                <a:solidFill>
                  <a:schemeClr val="accent2"/>
                </a:solidFill>
              </a:rPr>
              <a:t>Card digits go straight to Stripe Elements. We only keep the brand and the last four digits.</a:t>
            </a:r>
            <a:endParaRPr lang="en-US" sz="1500" dirty="0"/>
          </a:p>
        </p:txBody>
      </p:sp>
      <p:sp>
        <p:nvSpPr>
          <p:cNvPr id="48"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Who pays, and how we reach users</a:t>
            </a:r>
            <a:endParaRPr lang="en-US" sz="3600" dirty="0"/>
          </a:p>
        </p:txBody>
      </p:sp>
      <p:sp>
        <p:nvSpPr>
          <p:cNvPr id="4" name="TextBox 3"/>
          <p:cNvSpPr txBox="1"/>
          <p:nvPr/>
        </p:nvSpPr>
        <p:spPr>
          <a:xfrm>
            <a:off x="548640" y="347472"/>
            <a:ext cx="7315200" cy="256032"/>
          </a:xfrm>
          <a:prstGeom prst="rect">
            <a:avLst/>
          </a:prstGeom>
          <a:noFill/>
        </p:spPr>
        <p:txBody>
          <a:bodyPr wrap="square" lIns="0" tIns="0" rIns="0" bIns="0" anchor="t">
            <a:spAutoFit/>
          </a:bodyPr>
          <a:lstStyle/>
          <a:p>
            <a:pPr algn="l"/>
            <a:r>
              <a:rPr sz="1200" b="1" i="0" spc="400">
                <a:solidFill>
                  <a:schemeClr val="accent2"/>
                </a:solidFill>
              </a:rPr>
              <a:t>BUSINESS MODEL</a:t>
            </a:r>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10</a:t>
            </a:fld>
            <a:endParaRPr lang="en-US"/>
          </a:p>
        </p:txBody>
      </p:sp>
      <p:sp>
        <p:nvSpPr>
          <p:cNvPr id="31" name="card"/>
          <p:cNvSpPr/>
          <p:nvPr/>
        </p:nvSpPr>
        <p:spPr>
          <a:xfrm>
            <a:off x="548640" y="1691640"/>
            <a:ext cx="3566160" cy="2926080"/>
          </a:xfrm>
          <a:prstGeom prst="roundRect">
            <a:avLst>
              <a:gd name="adj" fmla="val 8000"/>
            </a:avLst>
          </a:prstGeom>
          <a:solidFill>
            <a:schemeClr val="tx2"/>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con-circle"/>
          <p:cNvSpPr/>
          <p:nvPr/>
        </p:nvSpPr>
        <p:spPr>
          <a:xfrm>
            <a:off x="822959" y="1920240"/>
            <a:ext cx="640080" cy="6400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FaCoins icon" descr="Coins icon"/>
          <p:cNvPicPr>
            <a:picLocks noChangeAspect="1"/>
          </p:cNvPicPr>
          <p:nvPr/>
        </p:nvPicPr>
        <p:blipFill>
          <a:blip r:embed="rId3"/>
          <a:stretch>
            <a:fillRect/>
          </a:stretch>
        </p:blipFill>
        <p:spPr>
          <a:xfrm>
            <a:off x="995781" y="2093061"/>
            <a:ext cx="294436" cy="294436"/>
          </a:xfrm>
          <a:prstGeom prst="rect">
            <a:avLst/>
          </a:prstGeom>
        </p:spPr>
      </p:pic>
      <p:sp>
        <p:nvSpPr>
          <p:cNvPr id="34" name="TextBox 33"/>
          <p:cNvSpPr txBox="1"/>
          <p:nvPr/>
        </p:nvSpPr>
        <p:spPr>
          <a:xfrm>
            <a:off x="1645919" y="1920240"/>
            <a:ext cx="2240280" cy="640080"/>
          </a:xfrm>
          <a:prstGeom prst="rect">
            <a:avLst/>
          </a:prstGeom>
          <a:noFill/>
        </p:spPr>
        <p:txBody>
          <a:bodyPr wrap="square" lIns="0" tIns="0" rIns="0" bIns="0" anchor="ctr">
            <a:spAutoFit/>
          </a:bodyPr>
          <a:lstStyle/>
          <a:p>
            <a:pPr algn="l"/>
            <a:r>
              <a:rPr sz="2100" b="1" i="0">
                <a:solidFill>
                  <a:schemeClr val="bg1"/>
                </a:solidFill>
              </a:rPr>
              <a:t>Who pays</a:t>
            </a:r>
          </a:p>
        </p:txBody>
      </p:sp>
      <p:sp>
        <p:nvSpPr>
          <p:cNvPr id="35" name="TextBox 34"/>
          <p:cNvSpPr txBox="1"/>
          <p:nvPr/>
        </p:nvSpPr>
        <p:spPr>
          <a:xfrm>
            <a:off x="822959" y="2834640"/>
            <a:ext cx="3017520" cy="1691640"/>
          </a:xfrm>
          <a:prstGeom prst="rect">
            <a:avLst/>
          </a:prstGeom>
          <a:noFill/>
        </p:spPr>
        <p:txBody>
          <a:bodyPr wrap="square" lIns="0" tIns="0" rIns="0" bIns="0" anchor="t">
            <a:spAutoFit/>
          </a:bodyPr>
          <a:lstStyle/>
          <a:p>
            <a:pPr algn="l">
              <a:spcAft>
                <a:spcPts val="800"/>
              </a:spcAft>
            </a:pPr>
            <a:r>
              <a:rPr sz="1800" b="1" i="0" dirty="0">
                <a:solidFill>
                  <a:schemeClr val="bg1"/>
                </a:solidFill>
              </a:rPr>
              <a:t>Users never pay.</a:t>
            </a:r>
          </a:p>
          <a:p>
            <a:pPr algn="l"/>
            <a:r>
              <a:rPr sz="1500" b="0" i="0" dirty="0">
                <a:solidFill>
                  <a:schemeClr val="bg2"/>
                </a:solidFill>
              </a:rPr>
              <a:t>The interest on the one-month hold covers the app, shared with the partner bank.</a:t>
            </a:r>
          </a:p>
        </p:txBody>
      </p:sp>
      <p:sp>
        <p:nvSpPr>
          <p:cNvPr id="36" name="card"/>
          <p:cNvSpPr/>
          <p:nvPr/>
        </p:nvSpPr>
        <p:spPr>
          <a:xfrm>
            <a:off x="4311396" y="1691640"/>
            <a:ext cx="3566160" cy="2926080"/>
          </a:xfrm>
          <a:prstGeom prst="roundRect">
            <a:avLst>
              <a:gd name="adj" fmla="val 8000"/>
            </a:avLst>
          </a:prstGeom>
          <a:solidFill>
            <a:schemeClr val="tx2"/>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icon-circle"/>
          <p:cNvSpPr/>
          <p:nvPr/>
        </p:nvSpPr>
        <p:spPr>
          <a:xfrm>
            <a:off x="4585716" y="1920240"/>
            <a:ext cx="640080" cy="6400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FaHandshake icon" descr="Handshake icon"/>
          <p:cNvPicPr>
            <a:picLocks noChangeAspect="1"/>
          </p:cNvPicPr>
          <p:nvPr/>
        </p:nvPicPr>
        <p:blipFill>
          <a:blip r:embed="rId4"/>
          <a:stretch>
            <a:fillRect/>
          </a:stretch>
        </p:blipFill>
        <p:spPr>
          <a:xfrm>
            <a:off x="4758537" y="2093061"/>
            <a:ext cx="294436" cy="294436"/>
          </a:xfrm>
          <a:prstGeom prst="rect">
            <a:avLst/>
          </a:prstGeom>
        </p:spPr>
      </p:pic>
      <p:sp>
        <p:nvSpPr>
          <p:cNvPr id="39" name="TextBox 38"/>
          <p:cNvSpPr txBox="1"/>
          <p:nvPr/>
        </p:nvSpPr>
        <p:spPr>
          <a:xfrm>
            <a:off x="5408676" y="1920240"/>
            <a:ext cx="2240280" cy="640080"/>
          </a:xfrm>
          <a:prstGeom prst="rect">
            <a:avLst/>
          </a:prstGeom>
          <a:noFill/>
        </p:spPr>
        <p:txBody>
          <a:bodyPr wrap="square" lIns="0" tIns="0" rIns="0" bIns="0" anchor="ctr">
            <a:spAutoFit/>
          </a:bodyPr>
          <a:lstStyle/>
          <a:p>
            <a:pPr algn="l"/>
            <a:r>
              <a:rPr sz="2100" b="1" i="0">
                <a:solidFill>
                  <a:schemeClr val="bg1"/>
                </a:solidFill>
              </a:rPr>
              <a:t>How we reach users</a:t>
            </a:r>
          </a:p>
        </p:txBody>
      </p:sp>
      <p:sp>
        <p:nvSpPr>
          <p:cNvPr id="40" name="TextBox 39"/>
          <p:cNvSpPr txBox="1"/>
          <p:nvPr/>
        </p:nvSpPr>
        <p:spPr>
          <a:xfrm>
            <a:off x="4585716" y="2834640"/>
            <a:ext cx="3017520" cy="1691640"/>
          </a:xfrm>
          <a:prstGeom prst="rect">
            <a:avLst/>
          </a:prstGeom>
          <a:noFill/>
        </p:spPr>
        <p:txBody>
          <a:bodyPr wrap="square" lIns="0" tIns="0" rIns="0" bIns="0" anchor="t">
            <a:spAutoFit/>
          </a:bodyPr>
          <a:lstStyle/>
          <a:p>
            <a:pPr algn="l">
              <a:spcAft>
                <a:spcPts val="800"/>
              </a:spcAft>
            </a:pPr>
            <a:r>
              <a:rPr sz="1800" b="1" i="0" dirty="0">
                <a:solidFill>
                  <a:schemeClr val="bg1"/>
                </a:solidFill>
              </a:rPr>
              <a:t>Through a partner, not ads.</a:t>
            </a:r>
          </a:p>
          <a:p>
            <a:pPr algn="l"/>
            <a:r>
              <a:rPr sz="1500" b="0" i="0" dirty="0">
                <a:solidFill>
                  <a:schemeClr val="bg2"/>
                </a:solidFill>
              </a:rPr>
              <a:t>A Pillar III pension administrator, with us as their registered marketing channel, or a bank that offers Life Growth to its customers.</a:t>
            </a:r>
          </a:p>
        </p:txBody>
      </p:sp>
      <p:sp>
        <p:nvSpPr>
          <p:cNvPr id="41" name="card"/>
          <p:cNvSpPr/>
          <p:nvPr/>
        </p:nvSpPr>
        <p:spPr>
          <a:xfrm>
            <a:off x="8074152" y="1691640"/>
            <a:ext cx="3566160" cy="2926080"/>
          </a:xfrm>
          <a:prstGeom prst="roundRect">
            <a:avLst>
              <a:gd name="adj" fmla="val 8000"/>
            </a:avLst>
          </a:prstGeom>
          <a:solidFill>
            <a:schemeClr val="tx2"/>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con-circle"/>
          <p:cNvSpPr/>
          <p:nvPr/>
        </p:nvSpPr>
        <p:spPr>
          <a:xfrm>
            <a:off x="8348472" y="1920240"/>
            <a:ext cx="640080" cy="6400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FaExclamationTriangle icon" descr="ExclamationTriangle icon"/>
          <p:cNvPicPr>
            <a:picLocks noChangeAspect="1"/>
          </p:cNvPicPr>
          <p:nvPr/>
        </p:nvPicPr>
        <p:blipFill>
          <a:blip r:embed="rId5"/>
          <a:stretch>
            <a:fillRect/>
          </a:stretch>
        </p:blipFill>
        <p:spPr>
          <a:xfrm>
            <a:off x="8521293" y="2093061"/>
            <a:ext cx="294436" cy="294436"/>
          </a:xfrm>
          <a:prstGeom prst="rect">
            <a:avLst/>
          </a:prstGeom>
        </p:spPr>
      </p:pic>
      <p:sp>
        <p:nvSpPr>
          <p:cNvPr id="44" name="TextBox 43"/>
          <p:cNvSpPr txBox="1"/>
          <p:nvPr/>
        </p:nvSpPr>
        <p:spPr>
          <a:xfrm>
            <a:off x="9171432" y="1920240"/>
            <a:ext cx="2240280" cy="640080"/>
          </a:xfrm>
          <a:prstGeom prst="rect">
            <a:avLst/>
          </a:prstGeom>
          <a:noFill/>
        </p:spPr>
        <p:txBody>
          <a:bodyPr wrap="square" lIns="0" tIns="0" rIns="0" bIns="0" anchor="ctr">
            <a:spAutoFit/>
          </a:bodyPr>
          <a:lstStyle/>
          <a:p>
            <a:pPr algn="l"/>
            <a:r>
              <a:rPr sz="2100" b="1" i="0">
                <a:solidFill>
                  <a:schemeClr val="bg1"/>
                </a:solidFill>
              </a:rPr>
              <a:t>What stands in the way</a:t>
            </a:r>
          </a:p>
        </p:txBody>
      </p:sp>
      <p:sp>
        <p:nvSpPr>
          <p:cNvPr id="45" name="TextBox 44"/>
          <p:cNvSpPr txBox="1"/>
          <p:nvPr/>
        </p:nvSpPr>
        <p:spPr>
          <a:xfrm>
            <a:off x="8348472" y="2834640"/>
            <a:ext cx="3017520" cy="1691640"/>
          </a:xfrm>
          <a:prstGeom prst="rect">
            <a:avLst/>
          </a:prstGeom>
          <a:noFill/>
        </p:spPr>
        <p:txBody>
          <a:bodyPr wrap="square" lIns="0" tIns="0" rIns="0" bIns="0" anchor="t">
            <a:spAutoFit/>
          </a:bodyPr>
          <a:lstStyle/>
          <a:p>
            <a:pPr marL="228600" indent="-228600" algn="l">
              <a:spcAft>
                <a:spcPts val="800"/>
              </a:spcAft>
              <a:buChar char="•"/>
            </a:pPr>
            <a:r>
              <a:rPr sz="1500" b="0" i="0">
                <a:solidFill>
                  <a:schemeClr val="bg2"/>
                </a:solidFill>
              </a:rPr>
              <a:t>A signed agreement with the pension administrator</a:t>
            </a:r>
          </a:p>
          <a:p>
            <a:pPr marL="228600" indent="-228600" algn="l">
              <a:buChar char="•"/>
            </a:pPr>
            <a:r>
              <a:rPr sz="1500" b="0" i="0">
                <a:solidFill>
                  <a:schemeClr val="bg2"/>
                </a:solidFill>
              </a:rPr>
              <a:t>The legal status of whoever holds the money: a licensed bank, never us</a:t>
            </a:r>
          </a:p>
        </p:txBody>
      </p:sp>
      <p:sp>
        <p:nvSpPr>
          <p:cNvPr id="46" name="card"/>
          <p:cNvSpPr/>
          <p:nvPr/>
        </p:nvSpPr>
        <p:spPr>
          <a:xfrm>
            <a:off x="548640" y="4846320"/>
            <a:ext cx="11091672" cy="1325880"/>
          </a:xfrm>
          <a:prstGeom prst="roundRect">
            <a:avLst>
              <a:gd name="adj" fmla="val 8000"/>
            </a:avLst>
          </a:prstGeom>
          <a:solidFill>
            <a:schemeClr val="accent3"/>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68680" y="5001768"/>
            <a:ext cx="10424160" cy="274320"/>
          </a:xfrm>
          <a:prstGeom prst="rect">
            <a:avLst/>
          </a:prstGeom>
          <a:noFill/>
        </p:spPr>
        <p:txBody>
          <a:bodyPr wrap="square" lIns="0" tIns="0" rIns="0" bIns="0" anchor="t">
            <a:spAutoFit/>
          </a:bodyPr>
          <a:lstStyle/>
          <a:p>
            <a:pPr algn="l"/>
            <a:r>
              <a:rPr sz="1100" b="1" i="0" spc="300">
                <a:solidFill>
                  <a:schemeClr val="bg2"/>
                </a:solidFill>
              </a:rPr>
              <a:t>THE INTEREST, IN ONE SENTENCE</a:t>
            </a:r>
          </a:p>
        </p:txBody>
      </p:sp>
      <p:sp>
        <p:nvSpPr>
          <p:cNvPr id="48" name="TextBox 47"/>
          <p:cNvSpPr txBox="1"/>
          <p:nvPr/>
        </p:nvSpPr>
        <p:spPr>
          <a:xfrm>
            <a:off x="868680" y="5349240"/>
            <a:ext cx="10424160" cy="731520"/>
          </a:xfrm>
          <a:prstGeom prst="rect">
            <a:avLst/>
          </a:prstGeom>
          <a:noFill/>
        </p:spPr>
        <p:txBody>
          <a:bodyPr wrap="square" lIns="0" tIns="0" rIns="0" bIns="0" anchor="t">
            <a:spAutoFit/>
          </a:bodyPr>
          <a:lstStyle/>
          <a:p>
            <a:pPr algn="l"/>
            <a:r>
              <a:rPr sz="1700" b="1" i="0" dirty="0">
                <a:solidFill>
                  <a:schemeClr val="bg1"/>
                </a:solidFill>
              </a:rPr>
              <a:t>A licensed partner bank holds the money in the user's name for 30 days, the interest is a disclosed fee that keeps the app free, and the full amount still reaches their Pillar III.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268"/>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RESPONSIBILITY</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sz="3600" b="1" dirty="0">
                <a:solidFill>
                  <a:schemeClr val="bg1"/>
                </a:solidFill>
              </a:rPr>
              <a:t>Honest by design</a:t>
            </a:r>
            <a:endParaRPr lang="en-US" sz="3600" dirty="0"/>
          </a:p>
        </p:txBody>
      </p:sp>
      <p:sp>
        <p:nvSpPr>
          <p:cNvPr id="4" name="card-269"/>
          <p:cNvSpPr/>
          <p:nvPr/>
        </p:nvSpPr>
        <p:spPr>
          <a:xfrm>
            <a:off x="548640" y="1783080"/>
            <a:ext cx="3566160" cy="1828800"/>
          </a:xfrm>
          <a:prstGeom prst="roundRect">
            <a:avLst>
              <a:gd name="adj" fmla="val 8000"/>
            </a:avLst>
          </a:prstGeom>
          <a:solidFill>
            <a:schemeClr val="tx2"/>
          </a:solidFill>
          <a:ln w="12700">
            <a:solidFill>
              <a:schemeClr val="accent4"/>
            </a:solidFill>
            <a:prstDash val="solid"/>
          </a:ln>
        </p:spPr>
        <p:txBody>
          <a:bodyPr/>
          <a:lstStyle/>
          <a:p>
            <a:endParaRPr lang="ro-RO"/>
          </a:p>
        </p:txBody>
      </p:sp>
      <p:sp>
        <p:nvSpPr>
          <p:cNvPr id="5" name="icon-circle-270"/>
          <p:cNvSpPr/>
          <p:nvPr/>
        </p:nvSpPr>
        <p:spPr>
          <a:xfrm>
            <a:off x="822960" y="2057400"/>
            <a:ext cx="594360" cy="594360"/>
          </a:xfrm>
          <a:prstGeom prst="ellipse">
            <a:avLst/>
          </a:prstGeom>
          <a:solidFill>
            <a:schemeClr val="accent3"/>
          </a:solidFill>
          <a:ln w="12700">
            <a:solidFill>
              <a:schemeClr val="accent3"/>
            </a:solidFill>
            <a:prstDash val="solid"/>
          </a:ln>
        </p:spPr>
        <p:txBody>
          <a:bodyPr/>
          <a:lstStyle/>
          <a:p>
            <a:endParaRPr lang="ro-RO"/>
          </a:p>
        </p:txBody>
      </p:sp>
      <p:pic>
        <p:nvPicPr>
          <p:cNvPr id="6" name="icon-271" descr="ShieldAlt icon"/>
          <p:cNvPicPr>
            <a:picLocks noChangeAspect="1"/>
          </p:cNvPicPr>
          <p:nvPr/>
        </p:nvPicPr>
        <p:blipFill>
          <a:blip r:embed="rId3"/>
          <a:stretch>
            <a:fillRect/>
          </a:stretch>
        </p:blipFill>
        <p:spPr>
          <a:xfrm>
            <a:off x="983437" y="2217877"/>
            <a:ext cx="273406" cy="273406"/>
          </a:xfrm>
          <a:prstGeom prst="rect">
            <a:avLst/>
          </a:prstGeom>
        </p:spPr>
      </p:pic>
      <p:sp>
        <p:nvSpPr>
          <p:cNvPr id="7" name="text-272"/>
          <p:cNvSpPr txBox="1"/>
          <p:nvPr/>
        </p:nvSpPr>
        <p:spPr>
          <a:xfrm>
            <a:off x="1600200" y="2057400"/>
            <a:ext cx="2286000" cy="594360"/>
          </a:xfrm>
          <a:prstGeom prst="rect">
            <a:avLst/>
          </a:prstGeom>
          <a:noFill/>
          <a:ln/>
        </p:spPr>
        <p:txBody>
          <a:bodyPr wrap="square" lIns="0" tIns="0" rIns="0" bIns="0" rtlCol="0" anchor="ctr"/>
          <a:lstStyle/>
          <a:p>
            <a:pPr marL="0" indent="0">
              <a:buNone/>
            </a:pPr>
            <a:r>
              <a:rPr lang="en-US" sz="1800" b="1" dirty="0">
                <a:solidFill>
                  <a:schemeClr val="bg1"/>
                </a:solidFill>
              </a:rPr>
              <a:t>Licensed custody</a:t>
            </a:r>
            <a:endParaRPr lang="en-US" sz="1800" dirty="0"/>
          </a:p>
        </p:txBody>
      </p:sp>
      <p:sp>
        <p:nvSpPr>
          <p:cNvPr id="8" name="text-273"/>
          <p:cNvSpPr txBox="1"/>
          <p:nvPr/>
        </p:nvSpPr>
        <p:spPr>
          <a:xfrm>
            <a:off x="822960" y="2834640"/>
            <a:ext cx="3017520" cy="777240"/>
          </a:xfrm>
          <a:prstGeom prst="rect">
            <a:avLst/>
          </a:prstGeom>
          <a:noFill/>
          <a:ln/>
        </p:spPr>
        <p:txBody>
          <a:bodyPr wrap="square" lIns="0" tIns="0" rIns="0" bIns="0" rtlCol="0" anchor="t"/>
          <a:lstStyle/>
          <a:p>
            <a:pPr marL="0" indent="0">
              <a:buNone/>
            </a:pPr>
            <a:r>
              <a:rPr lang="en-US" sz="1400" dirty="0">
                <a:solidFill>
                  <a:schemeClr val="accent2"/>
                </a:solidFill>
              </a:rPr>
              <a:t>A banking partner holds client money. We never do.</a:t>
            </a:r>
            <a:endParaRPr lang="en-US" sz="1400" dirty="0"/>
          </a:p>
        </p:txBody>
      </p:sp>
      <p:sp>
        <p:nvSpPr>
          <p:cNvPr id="9" name="card-274"/>
          <p:cNvSpPr/>
          <p:nvPr/>
        </p:nvSpPr>
        <p:spPr>
          <a:xfrm>
            <a:off x="4311396" y="1783080"/>
            <a:ext cx="3566160" cy="1828800"/>
          </a:xfrm>
          <a:prstGeom prst="roundRect">
            <a:avLst>
              <a:gd name="adj" fmla="val 8000"/>
            </a:avLst>
          </a:prstGeom>
          <a:solidFill>
            <a:schemeClr val="tx2"/>
          </a:solidFill>
          <a:ln w="12700">
            <a:solidFill>
              <a:schemeClr val="accent4"/>
            </a:solidFill>
            <a:prstDash val="solid"/>
          </a:ln>
        </p:spPr>
        <p:txBody>
          <a:bodyPr/>
          <a:lstStyle/>
          <a:p>
            <a:endParaRPr lang="ro-RO"/>
          </a:p>
        </p:txBody>
      </p:sp>
      <p:sp>
        <p:nvSpPr>
          <p:cNvPr id="10" name="icon-circle-275"/>
          <p:cNvSpPr/>
          <p:nvPr/>
        </p:nvSpPr>
        <p:spPr>
          <a:xfrm>
            <a:off x="4585716" y="2057400"/>
            <a:ext cx="594360" cy="594360"/>
          </a:xfrm>
          <a:prstGeom prst="ellipse">
            <a:avLst/>
          </a:prstGeom>
          <a:solidFill>
            <a:schemeClr val="accent3"/>
          </a:solidFill>
          <a:ln w="12700">
            <a:solidFill>
              <a:schemeClr val="accent3"/>
            </a:solidFill>
            <a:prstDash val="solid"/>
          </a:ln>
        </p:spPr>
        <p:txBody>
          <a:bodyPr/>
          <a:lstStyle/>
          <a:p>
            <a:endParaRPr lang="ro-RO"/>
          </a:p>
        </p:txBody>
      </p:sp>
      <p:pic>
        <p:nvPicPr>
          <p:cNvPr id="11" name="icon-276" descr="University icon"/>
          <p:cNvPicPr>
            <a:picLocks noChangeAspect="1"/>
          </p:cNvPicPr>
          <p:nvPr/>
        </p:nvPicPr>
        <p:blipFill>
          <a:blip r:embed="rId4"/>
          <a:stretch>
            <a:fillRect/>
          </a:stretch>
        </p:blipFill>
        <p:spPr>
          <a:xfrm>
            <a:off x="4746193" y="2217877"/>
            <a:ext cx="273406" cy="273406"/>
          </a:xfrm>
          <a:prstGeom prst="rect">
            <a:avLst/>
          </a:prstGeom>
        </p:spPr>
      </p:pic>
      <p:sp>
        <p:nvSpPr>
          <p:cNvPr id="12" name="text-277"/>
          <p:cNvSpPr txBox="1"/>
          <p:nvPr/>
        </p:nvSpPr>
        <p:spPr>
          <a:xfrm>
            <a:off x="5362956" y="2057400"/>
            <a:ext cx="2286000" cy="594360"/>
          </a:xfrm>
          <a:prstGeom prst="rect">
            <a:avLst/>
          </a:prstGeom>
          <a:noFill/>
          <a:ln/>
        </p:spPr>
        <p:txBody>
          <a:bodyPr wrap="square" lIns="0" tIns="0" rIns="0" bIns="0" rtlCol="0" anchor="ctr"/>
          <a:lstStyle/>
          <a:p>
            <a:pPr marL="0" indent="0">
              <a:buNone/>
            </a:pPr>
            <a:r>
              <a:rPr lang="en-US" sz="1800" b="1" dirty="0">
                <a:solidFill>
                  <a:schemeClr val="bg1"/>
                </a:solidFill>
              </a:rPr>
              <a:t>Regulated destination</a:t>
            </a:r>
            <a:endParaRPr lang="en-US" sz="1800" dirty="0"/>
          </a:p>
        </p:txBody>
      </p:sp>
      <p:sp>
        <p:nvSpPr>
          <p:cNvPr id="13" name="text-278"/>
          <p:cNvSpPr txBox="1"/>
          <p:nvPr/>
        </p:nvSpPr>
        <p:spPr>
          <a:xfrm>
            <a:off x="4585716" y="2834640"/>
            <a:ext cx="3017520" cy="777240"/>
          </a:xfrm>
          <a:prstGeom prst="rect">
            <a:avLst/>
          </a:prstGeom>
          <a:noFill/>
          <a:ln/>
        </p:spPr>
        <p:txBody>
          <a:bodyPr wrap="square" lIns="0" tIns="0" rIns="0" bIns="0" rtlCol="0" anchor="t"/>
          <a:lstStyle/>
          <a:p>
            <a:pPr marL="0" indent="0">
              <a:buNone/>
            </a:pPr>
            <a:r>
              <a:rPr lang="en-US" sz="1400" dirty="0">
                <a:solidFill>
                  <a:schemeClr val="accent2"/>
                </a:solidFill>
              </a:rPr>
              <a:t>Pillar III is supervised by ASF and tax-deductible up to 400 € a year.</a:t>
            </a:r>
            <a:endParaRPr lang="en-US" sz="1400" dirty="0"/>
          </a:p>
        </p:txBody>
      </p:sp>
      <p:sp>
        <p:nvSpPr>
          <p:cNvPr id="19" name="card-284"/>
          <p:cNvSpPr/>
          <p:nvPr/>
        </p:nvSpPr>
        <p:spPr>
          <a:xfrm>
            <a:off x="8074152" y="1783080"/>
            <a:ext cx="3566160" cy="1828800"/>
          </a:xfrm>
          <a:prstGeom prst="roundRect">
            <a:avLst>
              <a:gd name="adj" fmla="val 8000"/>
            </a:avLst>
          </a:prstGeom>
          <a:solidFill>
            <a:schemeClr val="tx2"/>
          </a:solidFill>
          <a:ln w="12700">
            <a:solidFill>
              <a:schemeClr val="accent4"/>
            </a:solidFill>
            <a:prstDash val="solid"/>
          </a:ln>
        </p:spPr>
        <p:txBody>
          <a:bodyPr/>
          <a:lstStyle/>
          <a:p>
            <a:endParaRPr lang="ro-RO"/>
          </a:p>
        </p:txBody>
      </p:sp>
      <p:sp>
        <p:nvSpPr>
          <p:cNvPr id="20" name="icon-circle-285"/>
          <p:cNvSpPr/>
          <p:nvPr/>
        </p:nvSpPr>
        <p:spPr>
          <a:xfrm>
            <a:off x="8348472" y="2057400"/>
            <a:ext cx="594360" cy="594360"/>
          </a:xfrm>
          <a:prstGeom prst="ellipse">
            <a:avLst/>
          </a:prstGeom>
          <a:solidFill>
            <a:schemeClr val="accent3"/>
          </a:solidFill>
          <a:ln w="12700">
            <a:solidFill>
              <a:schemeClr val="accent3"/>
            </a:solidFill>
            <a:prstDash val="solid"/>
          </a:ln>
        </p:spPr>
        <p:txBody>
          <a:bodyPr/>
          <a:lstStyle/>
          <a:p>
            <a:endParaRPr lang="ro-RO"/>
          </a:p>
        </p:txBody>
      </p:sp>
      <p:pic>
        <p:nvPicPr>
          <p:cNvPr id="21" name="icon-286" descr="UserShield icon"/>
          <p:cNvPicPr>
            <a:picLocks noChangeAspect="1"/>
          </p:cNvPicPr>
          <p:nvPr/>
        </p:nvPicPr>
        <p:blipFill>
          <a:blip r:embed="rId5"/>
          <a:stretch>
            <a:fillRect/>
          </a:stretch>
        </p:blipFill>
        <p:spPr>
          <a:xfrm>
            <a:off x="8508949" y="2217877"/>
            <a:ext cx="273406" cy="273406"/>
          </a:xfrm>
          <a:prstGeom prst="rect">
            <a:avLst/>
          </a:prstGeom>
        </p:spPr>
      </p:pic>
      <p:sp>
        <p:nvSpPr>
          <p:cNvPr id="22" name="text-287"/>
          <p:cNvSpPr txBox="1"/>
          <p:nvPr/>
        </p:nvSpPr>
        <p:spPr>
          <a:xfrm>
            <a:off x="9125712" y="2057400"/>
            <a:ext cx="2286000" cy="594360"/>
          </a:xfrm>
          <a:prstGeom prst="rect">
            <a:avLst/>
          </a:prstGeom>
          <a:noFill/>
          <a:ln/>
        </p:spPr>
        <p:txBody>
          <a:bodyPr wrap="square" lIns="0" tIns="0" rIns="0" bIns="0" rtlCol="0" anchor="ctr"/>
          <a:lstStyle/>
          <a:p>
            <a:pPr marL="0" indent="0">
              <a:buNone/>
            </a:pPr>
            <a:r>
              <a:rPr lang="en-US" sz="1800" b="1" dirty="0">
                <a:solidFill>
                  <a:schemeClr val="bg1"/>
                </a:solidFill>
              </a:rPr>
              <a:t>Privacy first</a:t>
            </a:r>
            <a:endParaRPr lang="en-US" sz="1800" dirty="0"/>
          </a:p>
        </p:txBody>
      </p:sp>
      <p:sp>
        <p:nvSpPr>
          <p:cNvPr id="23" name="text-288"/>
          <p:cNvSpPr txBox="1"/>
          <p:nvPr/>
        </p:nvSpPr>
        <p:spPr>
          <a:xfrm>
            <a:off x="8348472" y="2834640"/>
            <a:ext cx="3017520" cy="777240"/>
          </a:xfrm>
          <a:prstGeom prst="rect">
            <a:avLst/>
          </a:prstGeom>
          <a:noFill/>
          <a:ln/>
        </p:spPr>
        <p:txBody>
          <a:bodyPr wrap="square" lIns="0" tIns="0" rIns="0" bIns="0" rtlCol="0" anchor="t"/>
          <a:lstStyle/>
          <a:p>
            <a:pPr marL="0" indent="0">
              <a:buNone/>
            </a:pPr>
            <a:r>
              <a:rPr lang="en-US" sz="1400" dirty="0">
                <a:solidFill>
                  <a:schemeClr val="accent2"/>
                </a:solidFill>
              </a:rPr>
              <a:t>Minimal data, explicit consent, fictional data in the demo.</a:t>
            </a:r>
            <a:endParaRPr lang="en-US" sz="1400" dirty="0"/>
          </a:p>
        </p:txBody>
      </p:sp>
      <p:sp>
        <p:nvSpPr>
          <p:cNvPr id="24" name="card-289"/>
          <p:cNvSpPr/>
          <p:nvPr/>
        </p:nvSpPr>
        <p:spPr>
          <a:xfrm>
            <a:off x="2430019" y="3886200"/>
            <a:ext cx="3566160" cy="1828800"/>
          </a:xfrm>
          <a:prstGeom prst="roundRect">
            <a:avLst>
              <a:gd name="adj" fmla="val 8000"/>
            </a:avLst>
          </a:prstGeom>
          <a:solidFill>
            <a:schemeClr val="tx2"/>
          </a:solidFill>
          <a:ln w="12700">
            <a:solidFill>
              <a:schemeClr val="accent4"/>
            </a:solidFill>
            <a:prstDash val="solid"/>
          </a:ln>
        </p:spPr>
        <p:txBody>
          <a:bodyPr/>
          <a:lstStyle/>
          <a:p>
            <a:endParaRPr lang="ro-RO"/>
          </a:p>
        </p:txBody>
      </p:sp>
      <p:sp>
        <p:nvSpPr>
          <p:cNvPr id="25" name="icon-circle-290"/>
          <p:cNvSpPr/>
          <p:nvPr/>
        </p:nvSpPr>
        <p:spPr>
          <a:xfrm>
            <a:off x="2704339" y="4160520"/>
            <a:ext cx="594360" cy="594360"/>
          </a:xfrm>
          <a:prstGeom prst="ellipse">
            <a:avLst/>
          </a:prstGeom>
          <a:solidFill>
            <a:schemeClr val="accent3"/>
          </a:solidFill>
          <a:ln w="12700">
            <a:solidFill>
              <a:schemeClr val="accent3"/>
            </a:solidFill>
            <a:prstDash val="solid"/>
          </a:ln>
        </p:spPr>
        <p:txBody>
          <a:bodyPr/>
          <a:lstStyle/>
          <a:p>
            <a:endParaRPr lang="ro-RO"/>
          </a:p>
        </p:txBody>
      </p:sp>
      <p:pic>
        <p:nvPicPr>
          <p:cNvPr id="26" name="icon-291" descr="BalanceScale icon"/>
          <p:cNvPicPr>
            <a:picLocks noChangeAspect="1"/>
          </p:cNvPicPr>
          <p:nvPr/>
        </p:nvPicPr>
        <p:blipFill>
          <a:blip r:embed="rId6"/>
          <a:stretch>
            <a:fillRect/>
          </a:stretch>
        </p:blipFill>
        <p:spPr>
          <a:xfrm>
            <a:off x="2864816" y="4320997"/>
            <a:ext cx="273406" cy="273406"/>
          </a:xfrm>
          <a:prstGeom prst="rect">
            <a:avLst/>
          </a:prstGeom>
        </p:spPr>
      </p:pic>
      <p:sp>
        <p:nvSpPr>
          <p:cNvPr id="27" name="text-292"/>
          <p:cNvSpPr txBox="1"/>
          <p:nvPr/>
        </p:nvSpPr>
        <p:spPr>
          <a:xfrm>
            <a:off x="3481579" y="4160520"/>
            <a:ext cx="2286000" cy="594360"/>
          </a:xfrm>
          <a:prstGeom prst="rect">
            <a:avLst/>
          </a:prstGeom>
          <a:noFill/>
          <a:ln/>
        </p:spPr>
        <p:txBody>
          <a:bodyPr wrap="square" lIns="0" tIns="0" rIns="0" bIns="0" rtlCol="0" anchor="ctr"/>
          <a:lstStyle/>
          <a:p>
            <a:pPr marL="0" indent="0">
              <a:buNone/>
            </a:pPr>
            <a:r>
              <a:rPr lang="en-US" sz="1800" b="1" dirty="0">
                <a:solidFill>
                  <a:schemeClr val="bg1"/>
                </a:solidFill>
              </a:rPr>
              <a:t>Never flatters</a:t>
            </a:r>
            <a:endParaRPr lang="en-US" sz="1800" dirty="0"/>
          </a:p>
        </p:txBody>
      </p:sp>
      <p:sp>
        <p:nvSpPr>
          <p:cNvPr id="28" name="text-293"/>
          <p:cNvSpPr txBox="1"/>
          <p:nvPr/>
        </p:nvSpPr>
        <p:spPr>
          <a:xfrm>
            <a:off x="2704339" y="4937760"/>
            <a:ext cx="3017520" cy="777240"/>
          </a:xfrm>
          <a:prstGeom prst="rect">
            <a:avLst/>
          </a:prstGeom>
          <a:noFill/>
          <a:ln/>
        </p:spPr>
        <p:txBody>
          <a:bodyPr wrap="square" lIns="0" tIns="0" rIns="0" bIns="0" rtlCol="0" anchor="t"/>
          <a:lstStyle/>
          <a:p>
            <a:pPr marL="0" indent="0">
              <a:buNone/>
            </a:pPr>
            <a:r>
              <a:rPr lang="en-US" sz="1400" dirty="0">
                <a:solidFill>
                  <a:schemeClr val="accent2"/>
                </a:solidFill>
              </a:rPr>
              <a:t>The reveal uses a pessimistic return, so nobody is oversold.</a:t>
            </a:r>
            <a:endParaRPr lang="en-US" sz="1400" dirty="0"/>
          </a:p>
        </p:txBody>
      </p:sp>
      <p:sp>
        <p:nvSpPr>
          <p:cNvPr id="29" name="card-294"/>
          <p:cNvSpPr/>
          <p:nvPr/>
        </p:nvSpPr>
        <p:spPr>
          <a:xfrm>
            <a:off x="6192775" y="3886200"/>
            <a:ext cx="3566160" cy="1828800"/>
          </a:xfrm>
          <a:prstGeom prst="roundRect">
            <a:avLst>
              <a:gd name="adj" fmla="val 8000"/>
            </a:avLst>
          </a:prstGeom>
          <a:solidFill>
            <a:schemeClr val="tx2"/>
          </a:solidFill>
          <a:ln w="12700">
            <a:solidFill>
              <a:schemeClr val="accent4"/>
            </a:solidFill>
            <a:prstDash val="solid"/>
          </a:ln>
        </p:spPr>
        <p:txBody>
          <a:bodyPr/>
          <a:lstStyle/>
          <a:p>
            <a:endParaRPr lang="ro-RO"/>
          </a:p>
        </p:txBody>
      </p:sp>
      <p:sp>
        <p:nvSpPr>
          <p:cNvPr id="30" name="icon-circle-295"/>
          <p:cNvSpPr/>
          <p:nvPr/>
        </p:nvSpPr>
        <p:spPr>
          <a:xfrm>
            <a:off x="6467095" y="4160520"/>
            <a:ext cx="594360" cy="594360"/>
          </a:xfrm>
          <a:prstGeom prst="ellipse">
            <a:avLst/>
          </a:prstGeom>
          <a:solidFill>
            <a:schemeClr val="accent3"/>
          </a:solidFill>
          <a:ln w="12700">
            <a:solidFill>
              <a:schemeClr val="accent3"/>
            </a:solidFill>
            <a:prstDash val="solid"/>
          </a:ln>
        </p:spPr>
        <p:txBody>
          <a:bodyPr/>
          <a:lstStyle/>
          <a:p>
            <a:endParaRPr lang="ro-RO"/>
          </a:p>
        </p:txBody>
      </p:sp>
      <p:pic>
        <p:nvPicPr>
          <p:cNvPr id="31" name="icon-296" descr="ExclamationTriangle icon"/>
          <p:cNvPicPr>
            <a:picLocks noChangeAspect="1"/>
          </p:cNvPicPr>
          <p:nvPr/>
        </p:nvPicPr>
        <p:blipFill>
          <a:blip r:embed="rId7"/>
          <a:stretch>
            <a:fillRect/>
          </a:stretch>
        </p:blipFill>
        <p:spPr>
          <a:xfrm>
            <a:off x="6627572" y="4320997"/>
            <a:ext cx="273406" cy="273406"/>
          </a:xfrm>
          <a:prstGeom prst="rect">
            <a:avLst/>
          </a:prstGeom>
        </p:spPr>
      </p:pic>
      <p:sp>
        <p:nvSpPr>
          <p:cNvPr id="32" name="text-297"/>
          <p:cNvSpPr txBox="1"/>
          <p:nvPr/>
        </p:nvSpPr>
        <p:spPr>
          <a:xfrm>
            <a:off x="7244335" y="4160520"/>
            <a:ext cx="2286000" cy="594360"/>
          </a:xfrm>
          <a:prstGeom prst="rect">
            <a:avLst/>
          </a:prstGeom>
          <a:noFill/>
          <a:ln/>
        </p:spPr>
        <p:txBody>
          <a:bodyPr wrap="square" lIns="0" tIns="0" rIns="0" bIns="0" rtlCol="0" anchor="ctr"/>
          <a:lstStyle/>
          <a:p>
            <a:pPr marL="0" indent="0">
              <a:buNone/>
            </a:pPr>
            <a:r>
              <a:rPr lang="en-US" sz="1800" b="1" dirty="0">
                <a:solidFill>
                  <a:schemeClr val="bg1"/>
                </a:solidFill>
              </a:rPr>
              <a:t>Limits said out loud</a:t>
            </a:r>
            <a:endParaRPr lang="en-US" sz="1800" dirty="0"/>
          </a:p>
        </p:txBody>
      </p:sp>
      <p:sp>
        <p:nvSpPr>
          <p:cNvPr id="33" name="text-298"/>
          <p:cNvSpPr txBox="1"/>
          <p:nvPr/>
        </p:nvSpPr>
        <p:spPr>
          <a:xfrm>
            <a:off x="6467095" y="4937760"/>
            <a:ext cx="3017520" cy="777240"/>
          </a:xfrm>
          <a:prstGeom prst="rect">
            <a:avLst/>
          </a:prstGeom>
          <a:noFill/>
          <a:ln/>
        </p:spPr>
        <p:txBody>
          <a:bodyPr wrap="square" lIns="0" tIns="0" rIns="0" bIns="0" rtlCol="0" anchor="t"/>
          <a:lstStyle/>
          <a:p>
            <a:pPr marL="0" indent="0">
              <a:buNone/>
            </a:pPr>
            <a:r>
              <a:rPr lang="en-US" sz="1400" dirty="0">
                <a:solidFill>
                  <a:schemeClr val="accent2"/>
                </a:solidFill>
              </a:rPr>
              <a:t>Estimates, not guarantees. Round-ups alone are small.</a:t>
            </a:r>
            <a:endParaRPr lang="en-US" sz="1400" dirty="0"/>
          </a:p>
        </p:txBody>
      </p:sp>
      <p:sp>
        <p:nvSpPr>
          <p:cNvPr id="34"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299"/>
          <p:cNvSpPr txBox="1"/>
          <p:nvPr/>
        </p:nvSpPr>
        <p:spPr>
          <a:xfrm>
            <a:off x="548640" y="347472"/>
            <a:ext cx="7315200" cy="256032"/>
          </a:xfrm>
          <a:prstGeom prst="rect">
            <a:avLst/>
          </a:prstGeom>
          <a:noFill/>
          <a:ln/>
        </p:spPr>
        <p:txBody>
          <a:bodyPr wrap="square" lIns="0" tIns="0" rIns="0" bIns="0" rtlCol="0" anchor="ctr"/>
          <a:lstStyle/>
          <a:p>
            <a:pPr marL="0" indent="0">
              <a:buNone/>
            </a:pPr>
            <a:r>
              <a:rPr lang="en-US" sz="1200" b="1" kern="0" spc="400" dirty="0">
                <a:solidFill>
                  <a:schemeClr val="accent2"/>
                </a:solidFill>
              </a:rPr>
              <a:t>REALITY CHECK</a:t>
            </a:r>
            <a:endParaRPr lang="en-US" sz="1200" dirty="0"/>
          </a:p>
        </p:txBody>
      </p:sp>
      <p:sp>
        <p:nvSpPr>
          <p:cNvPr id="3" name="Text 0"/>
          <p:cNvSpPr>
            <a:spLocks noGrp="1"/>
          </p:cNvSpPr>
          <p:nvPr>
            <p:ph type="title" idx="100" hasCustomPrompt="1"/>
          </p:nvPr>
        </p:nvSpPr>
        <p:spPr>
          <a:xfrm>
            <a:off x="548640" y="621792"/>
            <a:ext cx="11091672" cy="777240"/>
          </a:xfrm>
          <a:prstGeom prst="rect">
            <a:avLst/>
          </a:prstGeom>
          <a:noFill/>
          <a:ln/>
        </p:spPr>
        <p:txBody>
          <a:bodyPr wrap="square" lIns="0" tIns="0" rIns="0" bIns="0" rtlCol="0" anchor="t"/>
          <a:lstStyle/>
          <a:p>
            <a:pPr marL="0" indent="0" algn="l">
              <a:buNone/>
            </a:pPr>
            <a:r>
              <a:rPr lang="en-US" dirty="0"/>
              <a:t>Limits, a fair assessment</a:t>
            </a:r>
            <a:br>
              <a:rPr lang="en-US" dirty="0"/>
            </a:br>
            <a:endParaRPr lang="en-US" sz="3600" dirty="0"/>
          </a:p>
        </p:txBody>
      </p:sp>
      <p:sp>
        <p:nvSpPr>
          <p:cNvPr id="4" name="text-300"/>
          <p:cNvSpPr txBox="1"/>
          <p:nvPr/>
        </p:nvSpPr>
        <p:spPr>
          <a:xfrm>
            <a:off x="548640" y="1645920"/>
            <a:ext cx="27432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WHAT</a:t>
            </a:r>
            <a:endParaRPr lang="en-US" sz="1200" dirty="0"/>
          </a:p>
        </p:txBody>
      </p:sp>
      <p:sp>
        <p:nvSpPr>
          <p:cNvPr id="5" name="text-301"/>
          <p:cNvSpPr txBox="1"/>
          <p:nvPr/>
        </p:nvSpPr>
        <p:spPr>
          <a:xfrm>
            <a:off x="3383280" y="1645920"/>
            <a:ext cx="338328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LIMITS</a:t>
            </a:r>
            <a:endParaRPr lang="en-US" sz="1200" dirty="0"/>
          </a:p>
        </p:txBody>
      </p:sp>
      <p:sp>
        <p:nvSpPr>
          <p:cNvPr id="6" name="text-302"/>
          <p:cNvSpPr txBox="1"/>
          <p:nvPr/>
        </p:nvSpPr>
        <p:spPr>
          <a:xfrm>
            <a:off x="7772400" y="1645920"/>
            <a:ext cx="3657600" cy="274320"/>
          </a:xfrm>
          <a:prstGeom prst="rect">
            <a:avLst/>
          </a:prstGeom>
          <a:noFill/>
          <a:ln/>
        </p:spPr>
        <p:txBody>
          <a:bodyPr wrap="square" lIns="0" tIns="0" rIns="0" bIns="0" rtlCol="0" anchor="ctr"/>
          <a:lstStyle/>
          <a:p>
            <a:pPr marL="0" indent="0">
              <a:buNone/>
            </a:pPr>
            <a:r>
              <a:rPr lang="en-US" sz="1200" b="1" kern="0" spc="300" dirty="0">
                <a:solidFill>
                  <a:schemeClr val="accent2"/>
                </a:solidFill>
              </a:rPr>
              <a:t>IMPROVEMENTS</a:t>
            </a:r>
            <a:endParaRPr lang="en-US" sz="1200" dirty="0"/>
          </a:p>
        </p:txBody>
      </p:sp>
      <p:sp>
        <p:nvSpPr>
          <p:cNvPr id="7" name="icon-circle-303"/>
          <p:cNvSpPr/>
          <p:nvPr/>
        </p:nvSpPr>
        <p:spPr>
          <a:xfrm>
            <a:off x="548640" y="2130552"/>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8" name="icon-304" descr="Wifi icon"/>
          <p:cNvPicPr>
            <a:picLocks noChangeAspect="1"/>
          </p:cNvPicPr>
          <p:nvPr/>
        </p:nvPicPr>
        <p:blipFill>
          <a:blip r:embed="rId3"/>
          <a:stretch>
            <a:fillRect/>
          </a:stretch>
        </p:blipFill>
        <p:spPr>
          <a:xfrm>
            <a:off x="696773" y="2278685"/>
            <a:ext cx="252374" cy="252374"/>
          </a:xfrm>
          <a:prstGeom prst="rect">
            <a:avLst/>
          </a:prstGeom>
        </p:spPr>
      </p:pic>
      <p:sp>
        <p:nvSpPr>
          <p:cNvPr id="9" name="text-305"/>
          <p:cNvSpPr txBox="1"/>
          <p:nvPr/>
        </p:nvSpPr>
        <p:spPr>
          <a:xfrm>
            <a:off x="1280160" y="2057400"/>
            <a:ext cx="2011680" cy="685800"/>
          </a:xfrm>
          <a:prstGeom prst="rect">
            <a:avLst/>
          </a:prstGeom>
          <a:noFill/>
          <a:ln/>
        </p:spPr>
        <p:txBody>
          <a:bodyPr wrap="square" lIns="0" tIns="0" rIns="0" bIns="0" rtlCol="0" anchor="ctr"/>
          <a:lstStyle/>
          <a:p>
            <a:pPr marL="0" indent="0">
              <a:buNone/>
            </a:pPr>
            <a:r>
              <a:rPr lang="en-US" sz="1600" b="1" dirty="0">
                <a:solidFill>
                  <a:schemeClr val="bg1"/>
                </a:solidFill>
              </a:rPr>
              <a:t>Spending data</a:t>
            </a:r>
            <a:endParaRPr lang="en-US" sz="1600" dirty="0"/>
          </a:p>
        </p:txBody>
      </p:sp>
      <p:sp>
        <p:nvSpPr>
          <p:cNvPr id="10" name="card-306"/>
          <p:cNvSpPr/>
          <p:nvPr/>
        </p:nvSpPr>
        <p:spPr>
          <a:xfrm>
            <a:off x="3383280" y="2057400"/>
            <a:ext cx="3383280" cy="685800"/>
          </a:xfrm>
          <a:prstGeom prst="roundRect">
            <a:avLst>
              <a:gd name="adj" fmla="val 21333"/>
            </a:avLst>
          </a:prstGeom>
          <a:solidFill>
            <a:schemeClr val="tx2"/>
          </a:solidFill>
          <a:ln w="12700">
            <a:solidFill>
              <a:schemeClr val="accent4"/>
            </a:solidFill>
            <a:prstDash val="solid"/>
          </a:ln>
        </p:spPr>
        <p:txBody>
          <a:bodyPr/>
          <a:lstStyle/>
          <a:p>
            <a:endParaRPr lang="ro-RO"/>
          </a:p>
        </p:txBody>
      </p:sp>
      <p:sp>
        <p:nvSpPr>
          <p:cNvPr id="11" name="text-307"/>
          <p:cNvSpPr txBox="1"/>
          <p:nvPr/>
        </p:nvSpPr>
        <p:spPr>
          <a:xfrm>
            <a:off x="3611880" y="2057400"/>
            <a:ext cx="3017520" cy="685800"/>
          </a:xfrm>
          <a:prstGeom prst="rect">
            <a:avLst/>
          </a:prstGeom>
          <a:noFill/>
          <a:ln/>
        </p:spPr>
        <p:txBody>
          <a:bodyPr wrap="square" lIns="0" tIns="0" rIns="0" bIns="0" rtlCol="0" anchor="ctr"/>
          <a:lstStyle/>
          <a:p>
            <a:pPr marL="0" indent="0">
              <a:buNone/>
            </a:pPr>
            <a:r>
              <a:rPr lang="en-US" sz="1400" dirty="0">
                <a:solidFill>
                  <a:schemeClr val="bg1"/>
                </a:solidFill>
              </a:rPr>
              <a:t>Mock bank sync</a:t>
            </a:r>
            <a:endParaRPr lang="en-US" sz="1400" dirty="0"/>
          </a:p>
        </p:txBody>
      </p:sp>
      <p:sp>
        <p:nvSpPr>
          <p:cNvPr id="12" name="arrow-308"/>
          <p:cNvSpPr/>
          <p:nvPr/>
        </p:nvSpPr>
        <p:spPr>
          <a:xfrm>
            <a:off x="6903720" y="2400300"/>
            <a:ext cx="731520" cy="0"/>
          </a:xfrm>
          <a:prstGeom prst="line">
            <a:avLst/>
          </a:prstGeom>
          <a:noFill/>
          <a:ln w="25400">
            <a:solidFill>
              <a:schemeClr val="accent2"/>
            </a:solidFill>
            <a:prstDash val="solid"/>
            <a:tailEnd type="triangle"/>
          </a:ln>
        </p:spPr>
        <p:txBody>
          <a:bodyPr/>
          <a:lstStyle/>
          <a:p>
            <a:endParaRPr lang="ro-RO"/>
          </a:p>
        </p:txBody>
      </p:sp>
      <p:sp>
        <p:nvSpPr>
          <p:cNvPr id="13" name="prod-card-309"/>
          <p:cNvSpPr/>
          <p:nvPr/>
        </p:nvSpPr>
        <p:spPr>
          <a:xfrm>
            <a:off x="7772400" y="2057400"/>
            <a:ext cx="3867912" cy="685800"/>
          </a:xfrm>
          <a:prstGeom prst="roundRect">
            <a:avLst>
              <a:gd name="adj" fmla="val 21333"/>
            </a:avLst>
          </a:prstGeom>
          <a:solidFill>
            <a:schemeClr val="accent3"/>
          </a:solidFill>
          <a:ln w="12700">
            <a:solidFill>
              <a:schemeClr val="accent3"/>
            </a:solidFill>
            <a:prstDash val="solid"/>
          </a:ln>
        </p:spPr>
        <p:txBody>
          <a:bodyPr/>
          <a:lstStyle/>
          <a:p>
            <a:endParaRPr lang="ro-RO"/>
          </a:p>
        </p:txBody>
      </p:sp>
      <p:sp>
        <p:nvSpPr>
          <p:cNvPr id="14" name="text-310"/>
          <p:cNvSpPr txBox="1"/>
          <p:nvPr/>
        </p:nvSpPr>
        <p:spPr>
          <a:xfrm>
            <a:off x="8001000" y="2057400"/>
            <a:ext cx="3474720" cy="685800"/>
          </a:xfrm>
          <a:prstGeom prst="rect">
            <a:avLst/>
          </a:prstGeom>
          <a:noFill/>
          <a:ln/>
        </p:spPr>
        <p:txBody>
          <a:bodyPr wrap="square" lIns="0" tIns="0" rIns="0" bIns="0" rtlCol="0" anchor="ctr"/>
          <a:lstStyle/>
          <a:p>
            <a:pPr marL="0" indent="0">
              <a:buNone/>
            </a:pPr>
            <a:r>
              <a:rPr lang="en-US" sz="1400" b="1" dirty="0">
                <a:solidFill>
                  <a:schemeClr val="bg1"/>
                </a:solidFill>
              </a:rPr>
              <a:t>Bank connection through PSD2</a:t>
            </a:r>
            <a:endParaRPr lang="en-US" sz="1400" dirty="0"/>
          </a:p>
        </p:txBody>
      </p:sp>
      <p:sp>
        <p:nvSpPr>
          <p:cNvPr id="15" name="icon-circle-311"/>
          <p:cNvSpPr/>
          <p:nvPr/>
        </p:nvSpPr>
        <p:spPr>
          <a:xfrm>
            <a:off x="548640" y="3136392"/>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16" name="icon-312" descr="FilePdf icon"/>
          <p:cNvPicPr>
            <a:picLocks noChangeAspect="1"/>
          </p:cNvPicPr>
          <p:nvPr/>
        </p:nvPicPr>
        <p:blipFill>
          <a:blip r:embed="rId4"/>
          <a:stretch>
            <a:fillRect/>
          </a:stretch>
        </p:blipFill>
        <p:spPr>
          <a:xfrm>
            <a:off x="696773" y="3284525"/>
            <a:ext cx="252374" cy="252374"/>
          </a:xfrm>
          <a:prstGeom prst="rect">
            <a:avLst/>
          </a:prstGeom>
        </p:spPr>
      </p:pic>
      <p:sp>
        <p:nvSpPr>
          <p:cNvPr id="17" name="text-313"/>
          <p:cNvSpPr txBox="1"/>
          <p:nvPr/>
        </p:nvSpPr>
        <p:spPr>
          <a:xfrm>
            <a:off x="1280160" y="3063240"/>
            <a:ext cx="2011680" cy="685800"/>
          </a:xfrm>
          <a:prstGeom prst="rect">
            <a:avLst/>
          </a:prstGeom>
          <a:noFill/>
          <a:ln/>
        </p:spPr>
        <p:txBody>
          <a:bodyPr wrap="square" lIns="0" tIns="0" rIns="0" bIns="0" rtlCol="0" anchor="ctr"/>
          <a:lstStyle/>
          <a:p>
            <a:pPr marL="0" indent="0">
              <a:buNone/>
            </a:pPr>
            <a:r>
              <a:rPr lang="en-US" sz="1600" b="1" dirty="0">
                <a:solidFill>
                  <a:schemeClr val="bg1"/>
                </a:solidFill>
              </a:rPr>
              <a:t>Statement reading</a:t>
            </a:r>
            <a:endParaRPr lang="en-US" sz="1600" dirty="0"/>
          </a:p>
        </p:txBody>
      </p:sp>
      <p:sp>
        <p:nvSpPr>
          <p:cNvPr id="18" name="card-314"/>
          <p:cNvSpPr/>
          <p:nvPr/>
        </p:nvSpPr>
        <p:spPr>
          <a:xfrm>
            <a:off x="3383280" y="3063240"/>
            <a:ext cx="3383280" cy="685800"/>
          </a:xfrm>
          <a:prstGeom prst="roundRect">
            <a:avLst>
              <a:gd name="adj" fmla="val 21333"/>
            </a:avLst>
          </a:prstGeom>
          <a:solidFill>
            <a:schemeClr val="tx2"/>
          </a:solidFill>
          <a:ln w="12700">
            <a:solidFill>
              <a:schemeClr val="accent4"/>
            </a:solidFill>
            <a:prstDash val="solid"/>
          </a:ln>
        </p:spPr>
        <p:txBody>
          <a:bodyPr/>
          <a:lstStyle/>
          <a:p>
            <a:endParaRPr lang="ro-RO"/>
          </a:p>
        </p:txBody>
      </p:sp>
      <p:sp>
        <p:nvSpPr>
          <p:cNvPr id="19" name="text-315"/>
          <p:cNvSpPr txBox="1"/>
          <p:nvPr/>
        </p:nvSpPr>
        <p:spPr>
          <a:xfrm>
            <a:off x="3611880" y="3063240"/>
            <a:ext cx="3017520" cy="685800"/>
          </a:xfrm>
          <a:prstGeom prst="rect">
            <a:avLst/>
          </a:prstGeom>
          <a:noFill/>
          <a:ln/>
        </p:spPr>
        <p:txBody>
          <a:bodyPr wrap="square" lIns="0" tIns="0" rIns="0" bIns="0" rtlCol="0" anchor="ctr"/>
          <a:lstStyle/>
          <a:p>
            <a:pPr marL="0" indent="0">
              <a:buNone/>
            </a:pPr>
            <a:r>
              <a:rPr lang="en-US" sz="1400" dirty="0">
                <a:solidFill>
                  <a:schemeClr val="bg1"/>
                </a:solidFill>
              </a:rPr>
              <a:t>Gemini, with a mock fallback</a:t>
            </a:r>
            <a:endParaRPr lang="en-US" sz="1400" dirty="0"/>
          </a:p>
        </p:txBody>
      </p:sp>
      <p:sp>
        <p:nvSpPr>
          <p:cNvPr id="20" name="arrow-316"/>
          <p:cNvSpPr/>
          <p:nvPr/>
        </p:nvSpPr>
        <p:spPr>
          <a:xfrm>
            <a:off x="6903720" y="3406140"/>
            <a:ext cx="731520" cy="0"/>
          </a:xfrm>
          <a:prstGeom prst="line">
            <a:avLst/>
          </a:prstGeom>
          <a:noFill/>
          <a:ln w="25400">
            <a:solidFill>
              <a:schemeClr val="accent2"/>
            </a:solidFill>
            <a:prstDash val="solid"/>
            <a:tailEnd type="triangle"/>
          </a:ln>
        </p:spPr>
        <p:txBody>
          <a:bodyPr/>
          <a:lstStyle/>
          <a:p>
            <a:endParaRPr lang="ro-RO"/>
          </a:p>
        </p:txBody>
      </p:sp>
      <p:sp>
        <p:nvSpPr>
          <p:cNvPr id="21" name="prod-card-317"/>
          <p:cNvSpPr/>
          <p:nvPr/>
        </p:nvSpPr>
        <p:spPr>
          <a:xfrm>
            <a:off x="7772400" y="3063240"/>
            <a:ext cx="3867912" cy="685800"/>
          </a:xfrm>
          <a:prstGeom prst="roundRect">
            <a:avLst>
              <a:gd name="adj" fmla="val 21333"/>
            </a:avLst>
          </a:prstGeom>
          <a:solidFill>
            <a:schemeClr val="accent3"/>
          </a:solidFill>
          <a:ln w="12700">
            <a:solidFill>
              <a:schemeClr val="accent3"/>
            </a:solidFill>
            <a:prstDash val="solid"/>
          </a:ln>
        </p:spPr>
        <p:txBody>
          <a:bodyPr/>
          <a:lstStyle/>
          <a:p>
            <a:endParaRPr lang="ro-RO"/>
          </a:p>
        </p:txBody>
      </p:sp>
      <p:sp>
        <p:nvSpPr>
          <p:cNvPr id="22" name="text-318"/>
          <p:cNvSpPr txBox="1"/>
          <p:nvPr/>
        </p:nvSpPr>
        <p:spPr>
          <a:xfrm>
            <a:off x="8001000" y="3063240"/>
            <a:ext cx="3474720" cy="685800"/>
          </a:xfrm>
          <a:prstGeom prst="rect">
            <a:avLst/>
          </a:prstGeom>
          <a:noFill/>
          <a:ln/>
        </p:spPr>
        <p:txBody>
          <a:bodyPr wrap="square" lIns="0" tIns="0" rIns="0" bIns="0" rtlCol="0" anchor="ctr"/>
          <a:lstStyle/>
          <a:p>
            <a:pPr marL="0" indent="0">
              <a:buNone/>
            </a:pPr>
            <a:r>
              <a:rPr lang="en-US" sz="1400" b="1" dirty="0">
                <a:solidFill>
                  <a:schemeClr val="bg1"/>
                </a:solidFill>
              </a:rPr>
              <a:t>The same</a:t>
            </a:r>
            <a:endParaRPr lang="en-US" sz="1400" dirty="0"/>
          </a:p>
        </p:txBody>
      </p:sp>
      <p:sp>
        <p:nvSpPr>
          <p:cNvPr id="23" name="icon-circle-319"/>
          <p:cNvSpPr/>
          <p:nvPr/>
        </p:nvSpPr>
        <p:spPr>
          <a:xfrm>
            <a:off x="548640" y="4142232"/>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24" name="icon-320" descr="CreditCard icon"/>
          <p:cNvPicPr>
            <a:picLocks noChangeAspect="1"/>
          </p:cNvPicPr>
          <p:nvPr/>
        </p:nvPicPr>
        <p:blipFill>
          <a:blip r:embed="rId5"/>
          <a:stretch>
            <a:fillRect/>
          </a:stretch>
        </p:blipFill>
        <p:spPr>
          <a:xfrm>
            <a:off x="696773" y="4290365"/>
            <a:ext cx="252374" cy="252374"/>
          </a:xfrm>
          <a:prstGeom prst="rect">
            <a:avLst/>
          </a:prstGeom>
        </p:spPr>
      </p:pic>
      <p:sp>
        <p:nvSpPr>
          <p:cNvPr id="25" name="text-321"/>
          <p:cNvSpPr txBox="1"/>
          <p:nvPr/>
        </p:nvSpPr>
        <p:spPr>
          <a:xfrm>
            <a:off x="1280160" y="4069080"/>
            <a:ext cx="2011680" cy="685800"/>
          </a:xfrm>
          <a:prstGeom prst="rect">
            <a:avLst/>
          </a:prstGeom>
          <a:noFill/>
          <a:ln/>
        </p:spPr>
        <p:txBody>
          <a:bodyPr wrap="square" lIns="0" tIns="0" rIns="0" bIns="0" rtlCol="0" anchor="ctr"/>
          <a:lstStyle/>
          <a:p>
            <a:pPr marL="0" indent="0">
              <a:buNone/>
            </a:pPr>
            <a:r>
              <a:rPr lang="en-US" sz="1600" b="1" dirty="0">
                <a:solidFill>
                  <a:schemeClr val="bg1"/>
                </a:solidFill>
              </a:rPr>
              <a:t>Collection</a:t>
            </a:r>
            <a:endParaRPr lang="en-US" sz="1600" dirty="0"/>
          </a:p>
        </p:txBody>
      </p:sp>
      <p:sp>
        <p:nvSpPr>
          <p:cNvPr id="26" name="card-322"/>
          <p:cNvSpPr/>
          <p:nvPr/>
        </p:nvSpPr>
        <p:spPr>
          <a:xfrm>
            <a:off x="3383280" y="4069080"/>
            <a:ext cx="3383280" cy="685800"/>
          </a:xfrm>
          <a:prstGeom prst="roundRect">
            <a:avLst>
              <a:gd name="adj" fmla="val 21333"/>
            </a:avLst>
          </a:prstGeom>
          <a:solidFill>
            <a:schemeClr val="tx2"/>
          </a:solidFill>
          <a:ln w="12700">
            <a:solidFill>
              <a:schemeClr val="accent4"/>
            </a:solidFill>
            <a:prstDash val="solid"/>
          </a:ln>
        </p:spPr>
        <p:txBody>
          <a:bodyPr/>
          <a:lstStyle/>
          <a:p>
            <a:endParaRPr lang="ro-RO"/>
          </a:p>
        </p:txBody>
      </p:sp>
      <p:sp>
        <p:nvSpPr>
          <p:cNvPr id="27" name="text-323"/>
          <p:cNvSpPr txBox="1"/>
          <p:nvPr/>
        </p:nvSpPr>
        <p:spPr>
          <a:xfrm>
            <a:off x="3611880" y="4069080"/>
            <a:ext cx="3017520" cy="685800"/>
          </a:xfrm>
          <a:prstGeom prst="rect">
            <a:avLst/>
          </a:prstGeom>
          <a:noFill/>
          <a:ln/>
        </p:spPr>
        <p:txBody>
          <a:bodyPr wrap="square" lIns="0" tIns="0" rIns="0" bIns="0" rtlCol="0" anchor="ctr"/>
          <a:lstStyle/>
          <a:p>
            <a:pPr marL="0" indent="0">
              <a:buNone/>
            </a:pPr>
            <a:r>
              <a:rPr lang="en-US" sz="1400" dirty="0">
                <a:solidFill>
                  <a:schemeClr val="bg1"/>
                </a:solidFill>
              </a:rPr>
              <a:t>Stripe in test mode</a:t>
            </a:r>
            <a:endParaRPr lang="en-US" sz="1400" dirty="0"/>
          </a:p>
        </p:txBody>
      </p:sp>
      <p:sp>
        <p:nvSpPr>
          <p:cNvPr id="28" name="arrow-324"/>
          <p:cNvSpPr/>
          <p:nvPr/>
        </p:nvSpPr>
        <p:spPr>
          <a:xfrm>
            <a:off x="6903720" y="4411980"/>
            <a:ext cx="731520" cy="0"/>
          </a:xfrm>
          <a:prstGeom prst="line">
            <a:avLst/>
          </a:prstGeom>
          <a:noFill/>
          <a:ln w="25400">
            <a:solidFill>
              <a:schemeClr val="accent2"/>
            </a:solidFill>
            <a:prstDash val="solid"/>
            <a:tailEnd type="triangle"/>
          </a:ln>
        </p:spPr>
        <p:txBody>
          <a:bodyPr/>
          <a:lstStyle/>
          <a:p>
            <a:endParaRPr lang="ro-RO"/>
          </a:p>
        </p:txBody>
      </p:sp>
      <p:sp>
        <p:nvSpPr>
          <p:cNvPr id="29" name="prod-card-325"/>
          <p:cNvSpPr/>
          <p:nvPr/>
        </p:nvSpPr>
        <p:spPr>
          <a:xfrm>
            <a:off x="7772400" y="4069080"/>
            <a:ext cx="3867912" cy="685800"/>
          </a:xfrm>
          <a:prstGeom prst="roundRect">
            <a:avLst>
              <a:gd name="adj" fmla="val 21333"/>
            </a:avLst>
          </a:prstGeom>
          <a:solidFill>
            <a:schemeClr val="accent3"/>
          </a:solidFill>
          <a:ln w="12700">
            <a:solidFill>
              <a:schemeClr val="accent3"/>
            </a:solidFill>
            <a:prstDash val="solid"/>
          </a:ln>
        </p:spPr>
        <p:txBody>
          <a:bodyPr/>
          <a:lstStyle/>
          <a:p>
            <a:endParaRPr lang="ro-RO"/>
          </a:p>
        </p:txBody>
      </p:sp>
      <p:sp>
        <p:nvSpPr>
          <p:cNvPr id="30" name="text-326"/>
          <p:cNvSpPr txBox="1"/>
          <p:nvPr/>
        </p:nvSpPr>
        <p:spPr>
          <a:xfrm>
            <a:off x="8001000" y="4069080"/>
            <a:ext cx="3474720" cy="685800"/>
          </a:xfrm>
          <a:prstGeom prst="rect">
            <a:avLst/>
          </a:prstGeom>
          <a:noFill/>
          <a:ln/>
        </p:spPr>
        <p:txBody>
          <a:bodyPr wrap="square" lIns="0" tIns="0" rIns="0" bIns="0" rtlCol="0" anchor="ctr"/>
          <a:lstStyle/>
          <a:p>
            <a:pPr marL="0" indent="0">
              <a:buNone/>
            </a:pPr>
            <a:r>
              <a:rPr lang="en-US" sz="1400" b="1" dirty="0">
                <a:solidFill>
                  <a:schemeClr val="bg1"/>
                </a:solidFill>
              </a:rPr>
              <a:t>Partner bank debits the account</a:t>
            </a:r>
            <a:endParaRPr lang="en-US" sz="1400" dirty="0"/>
          </a:p>
        </p:txBody>
      </p:sp>
      <p:sp>
        <p:nvSpPr>
          <p:cNvPr id="31" name="icon-circle-327"/>
          <p:cNvSpPr/>
          <p:nvPr/>
        </p:nvSpPr>
        <p:spPr>
          <a:xfrm>
            <a:off x="548640" y="5148072"/>
            <a:ext cx="548640" cy="548640"/>
          </a:xfrm>
          <a:prstGeom prst="ellipse">
            <a:avLst/>
          </a:prstGeom>
          <a:solidFill>
            <a:schemeClr val="accent3"/>
          </a:solidFill>
          <a:ln w="12700">
            <a:solidFill>
              <a:schemeClr val="accent3"/>
            </a:solidFill>
            <a:prstDash val="solid"/>
          </a:ln>
        </p:spPr>
        <p:txBody>
          <a:bodyPr/>
          <a:lstStyle/>
          <a:p>
            <a:endParaRPr lang="ro-RO"/>
          </a:p>
        </p:txBody>
      </p:sp>
      <p:pic>
        <p:nvPicPr>
          <p:cNvPr id="32" name="icon-328" descr="PiggyBank icon"/>
          <p:cNvPicPr>
            <a:picLocks noChangeAspect="1"/>
          </p:cNvPicPr>
          <p:nvPr/>
        </p:nvPicPr>
        <p:blipFill>
          <a:blip r:embed="rId6"/>
          <a:stretch>
            <a:fillRect/>
          </a:stretch>
        </p:blipFill>
        <p:spPr>
          <a:xfrm>
            <a:off x="696773" y="5296205"/>
            <a:ext cx="252374" cy="252374"/>
          </a:xfrm>
          <a:prstGeom prst="rect">
            <a:avLst/>
          </a:prstGeom>
        </p:spPr>
      </p:pic>
      <p:sp>
        <p:nvSpPr>
          <p:cNvPr id="33" name="text-329"/>
          <p:cNvSpPr txBox="1"/>
          <p:nvPr/>
        </p:nvSpPr>
        <p:spPr>
          <a:xfrm>
            <a:off x="1280160" y="5074920"/>
            <a:ext cx="2011680" cy="685800"/>
          </a:xfrm>
          <a:prstGeom prst="rect">
            <a:avLst/>
          </a:prstGeom>
          <a:noFill/>
          <a:ln/>
        </p:spPr>
        <p:txBody>
          <a:bodyPr wrap="square" lIns="0" tIns="0" rIns="0" bIns="0" rtlCol="0" anchor="ctr"/>
          <a:lstStyle/>
          <a:p>
            <a:pPr marL="0" indent="0">
              <a:buNone/>
            </a:pPr>
            <a:r>
              <a:rPr lang="en-US" sz="1600" b="1" dirty="0">
                <a:solidFill>
                  <a:schemeClr val="bg1"/>
                </a:solidFill>
              </a:rPr>
              <a:t>Pillar III purchase</a:t>
            </a:r>
            <a:endParaRPr lang="en-US" sz="1600" dirty="0"/>
          </a:p>
        </p:txBody>
      </p:sp>
      <p:sp>
        <p:nvSpPr>
          <p:cNvPr id="34" name="card-330"/>
          <p:cNvSpPr/>
          <p:nvPr/>
        </p:nvSpPr>
        <p:spPr>
          <a:xfrm>
            <a:off x="3383280" y="5074920"/>
            <a:ext cx="3383280" cy="685800"/>
          </a:xfrm>
          <a:prstGeom prst="roundRect">
            <a:avLst>
              <a:gd name="adj" fmla="val 21333"/>
            </a:avLst>
          </a:prstGeom>
          <a:solidFill>
            <a:schemeClr val="tx2"/>
          </a:solidFill>
          <a:ln w="12700">
            <a:solidFill>
              <a:schemeClr val="accent4"/>
            </a:solidFill>
            <a:prstDash val="solid"/>
          </a:ln>
        </p:spPr>
        <p:txBody>
          <a:bodyPr/>
          <a:lstStyle/>
          <a:p>
            <a:endParaRPr lang="ro-RO"/>
          </a:p>
        </p:txBody>
      </p:sp>
      <p:sp>
        <p:nvSpPr>
          <p:cNvPr id="35" name="text-331"/>
          <p:cNvSpPr txBox="1"/>
          <p:nvPr/>
        </p:nvSpPr>
        <p:spPr>
          <a:xfrm>
            <a:off x="3611880" y="5074920"/>
            <a:ext cx="3017520" cy="685800"/>
          </a:xfrm>
          <a:prstGeom prst="rect">
            <a:avLst/>
          </a:prstGeom>
          <a:noFill/>
          <a:ln/>
        </p:spPr>
        <p:txBody>
          <a:bodyPr wrap="square" lIns="0" tIns="0" rIns="0" bIns="0" rtlCol="0" anchor="ctr"/>
          <a:lstStyle/>
          <a:p>
            <a:pPr marL="0" indent="0">
              <a:buNone/>
            </a:pPr>
            <a:r>
              <a:rPr lang="en-US" sz="1400" dirty="0">
                <a:solidFill>
                  <a:schemeClr val="bg1"/>
                </a:solidFill>
              </a:rPr>
              <a:t>Ledger with unit prices</a:t>
            </a:r>
            <a:endParaRPr lang="en-US" sz="1400" dirty="0"/>
          </a:p>
        </p:txBody>
      </p:sp>
      <p:sp>
        <p:nvSpPr>
          <p:cNvPr id="36" name="arrow-332"/>
          <p:cNvSpPr/>
          <p:nvPr/>
        </p:nvSpPr>
        <p:spPr>
          <a:xfrm>
            <a:off x="6903720" y="5417820"/>
            <a:ext cx="731520" cy="0"/>
          </a:xfrm>
          <a:prstGeom prst="line">
            <a:avLst/>
          </a:prstGeom>
          <a:noFill/>
          <a:ln w="25400">
            <a:solidFill>
              <a:schemeClr val="accent2"/>
            </a:solidFill>
            <a:prstDash val="solid"/>
            <a:tailEnd type="triangle"/>
          </a:ln>
        </p:spPr>
        <p:txBody>
          <a:bodyPr/>
          <a:lstStyle/>
          <a:p>
            <a:endParaRPr lang="ro-RO"/>
          </a:p>
        </p:txBody>
      </p:sp>
      <p:sp>
        <p:nvSpPr>
          <p:cNvPr id="37" name="prod-card-333"/>
          <p:cNvSpPr/>
          <p:nvPr/>
        </p:nvSpPr>
        <p:spPr>
          <a:xfrm>
            <a:off x="7772400" y="5074920"/>
            <a:ext cx="3867912" cy="685800"/>
          </a:xfrm>
          <a:prstGeom prst="roundRect">
            <a:avLst>
              <a:gd name="adj" fmla="val 21333"/>
            </a:avLst>
          </a:prstGeom>
          <a:solidFill>
            <a:schemeClr val="accent3"/>
          </a:solidFill>
          <a:ln w="12700">
            <a:solidFill>
              <a:schemeClr val="accent3"/>
            </a:solidFill>
            <a:prstDash val="solid"/>
          </a:ln>
        </p:spPr>
        <p:txBody>
          <a:bodyPr/>
          <a:lstStyle/>
          <a:p>
            <a:endParaRPr lang="ro-RO"/>
          </a:p>
        </p:txBody>
      </p:sp>
      <p:sp>
        <p:nvSpPr>
          <p:cNvPr id="38" name="text-334"/>
          <p:cNvSpPr txBox="1"/>
          <p:nvPr/>
        </p:nvSpPr>
        <p:spPr>
          <a:xfrm>
            <a:off x="8001000" y="5074920"/>
            <a:ext cx="3474720" cy="685800"/>
          </a:xfrm>
          <a:prstGeom prst="rect">
            <a:avLst/>
          </a:prstGeom>
          <a:noFill/>
          <a:ln/>
        </p:spPr>
        <p:txBody>
          <a:bodyPr wrap="square" lIns="0" tIns="0" rIns="0" bIns="0" rtlCol="0" anchor="ctr"/>
          <a:lstStyle/>
          <a:p>
            <a:pPr marL="0" indent="0">
              <a:buNone/>
            </a:pPr>
            <a:r>
              <a:rPr lang="en-US" sz="1400" b="1" dirty="0">
                <a:solidFill>
                  <a:schemeClr val="bg1"/>
                </a:solidFill>
              </a:rPr>
              <a:t>The pension fund executes it</a:t>
            </a:r>
            <a:endParaRPr lang="en-US" sz="1400" dirty="0"/>
          </a:p>
        </p:txBody>
      </p:sp>
      <p:sp>
        <p:nvSpPr>
          <p:cNvPr id="39" name="text-335"/>
          <p:cNvSpPr txBox="1"/>
          <p:nvPr/>
        </p:nvSpPr>
        <p:spPr>
          <a:xfrm>
            <a:off x="548640" y="5989320"/>
            <a:ext cx="10972800" cy="320040"/>
          </a:xfrm>
          <a:prstGeom prst="rect">
            <a:avLst/>
          </a:prstGeom>
          <a:noFill/>
          <a:ln/>
        </p:spPr>
        <p:txBody>
          <a:bodyPr wrap="square" lIns="0" tIns="0" rIns="0" bIns="0" rtlCol="0" anchor="t"/>
          <a:lstStyle/>
          <a:p>
            <a:pPr marL="0" indent="0">
              <a:buNone/>
            </a:pPr>
            <a:r>
              <a:rPr lang="en-US" sz="1600" i="1" dirty="0">
                <a:solidFill>
                  <a:schemeClr val="accent2"/>
                </a:solidFill>
              </a:rPr>
              <a:t>The product logic is real. Only the regulated money steps are simulated.</a:t>
            </a:r>
            <a:endParaRPr lang="en-US" sz="1600" dirty="0"/>
          </a:p>
        </p:txBody>
      </p:sp>
      <p:sp>
        <p:nvSpPr>
          <p:cNvPr id="4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336"/>
          <p:cNvSpPr txBox="1"/>
          <p:nvPr/>
        </p:nvSpPr>
        <p:spPr>
          <a:xfrm>
            <a:off x="731520" y="1417320"/>
            <a:ext cx="5486400" cy="274320"/>
          </a:xfrm>
          <a:prstGeom prst="rect">
            <a:avLst/>
          </a:prstGeom>
          <a:noFill/>
          <a:ln/>
        </p:spPr>
        <p:txBody>
          <a:bodyPr wrap="square" lIns="0" tIns="0" rIns="0" bIns="0" rtlCol="0" anchor="ctr"/>
          <a:lstStyle/>
          <a:p>
            <a:pPr marL="0" indent="0">
              <a:buNone/>
            </a:pPr>
            <a:r>
              <a:rPr lang="en-US" sz="1200" b="1" kern="0" spc="400" dirty="0">
                <a:solidFill>
                  <a:schemeClr val="accent2"/>
                </a:solidFill>
              </a:rPr>
              <a:t>THANK YOU</a:t>
            </a:r>
            <a:endParaRPr lang="en-US" sz="1200" dirty="0"/>
          </a:p>
        </p:txBody>
      </p:sp>
      <p:sp>
        <p:nvSpPr>
          <p:cNvPr id="3" name="Text 0"/>
          <p:cNvSpPr>
            <a:spLocks noGrp="1"/>
          </p:cNvSpPr>
          <p:nvPr>
            <p:ph type="title" idx="100" hasCustomPrompt="1"/>
          </p:nvPr>
        </p:nvSpPr>
        <p:spPr>
          <a:xfrm>
            <a:off x="731520" y="1828800"/>
            <a:ext cx="6766560" cy="1280160"/>
          </a:xfrm>
          <a:prstGeom prst="rect">
            <a:avLst/>
          </a:prstGeom>
          <a:noFill/>
          <a:ln/>
        </p:spPr>
        <p:txBody>
          <a:bodyPr wrap="square" lIns="0" tIns="0" rIns="0" bIns="0" rtlCol="0" anchor="t"/>
          <a:lstStyle/>
          <a:p>
            <a:pPr marL="0" indent="0" algn="l">
              <a:buNone/>
            </a:pPr>
            <a:r>
              <a:rPr lang="en-US" sz="6000" b="1" dirty="0">
                <a:solidFill>
                  <a:schemeClr val="bg1"/>
                </a:solidFill>
              </a:rPr>
              <a:t>Life Growth</a:t>
            </a:r>
            <a:endParaRPr lang="en-US" sz="6000" dirty="0"/>
          </a:p>
        </p:txBody>
      </p:sp>
      <p:sp>
        <p:nvSpPr>
          <p:cNvPr id="4" name="text-337"/>
          <p:cNvSpPr txBox="1"/>
          <p:nvPr/>
        </p:nvSpPr>
        <p:spPr>
          <a:xfrm>
            <a:off x="731520" y="2971800"/>
            <a:ext cx="6035040" cy="822960"/>
          </a:xfrm>
          <a:prstGeom prst="rect">
            <a:avLst/>
          </a:prstGeom>
          <a:noFill/>
          <a:ln/>
        </p:spPr>
        <p:txBody>
          <a:bodyPr wrap="square" lIns="0" tIns="0" rIns="0" bIns="0" rtlCol="0" anchor="t"/>
          <a:lstStyle/>
          <a:p>
            <a:pPr marL="0" indent="0">
              <a:buNone/>
            </a:pPr>
            <a:r>
              <a:rPr lang="en-US" sz="2400" dirty="0">
                <a:solidFill>
                  <a:schemeClr val="accent2"/>
                </a:solidFill>
              </a:rPr>
              <a:t>See your future. Grow it one tap at a time.</a:t>
            </a:r>
            <a:endParaRPr lang="en-US" sz="2400" dirty="0"/>
          </a:p>
        </p:txBody>
      </p:sp>
      <p:sp>
        <p:nvSpPr>
          <p:cNvPr id="5" name="team-pill-338"/>
          <p:cNvSpPr/>
          <p:nvPr/>
        </p:nvSpPr>
        <p:spPr>
          <a:xfrm>
            <a:off x="731520" y="4206240"/>
            <a:ext cx="3246120" cy="566928"/>
          </a:xfrm>
          <a:prstGeom prst="roundRect">
            <a:avLst>
              <a:gd name="adj" fmla="val 50000"/>
            </a:avLst>
          </a:prstGeom>
          <a:solidFill>
            <a:schemeClr val="accent1"/>
          </a:solidFill>
          <a:ln w="12700">
            <a:solidFill>
              <a:schemeClr val="accent1"/>
            </a:solidFill>
            <a:prstDash val="solid"/>
          </a:ln>
        </p:spPr>
        <p:txBody>
          <a:bodyPr/>
          <a:lstStyle/>
          <a:p>
            <a:endParaRPr lang="ro-RO"/>
          </a:p>
        </p:txBody>
      </p:sp>
      <p:sp>
        <p:nvSpPr>
          <p:cNvPr id="6" name="text-339"/>
          <p:cNvSpPr txBox="1"/>
          <p:nvPr/>
        </p:nvSpPr>
        <p:spPr>
          <a:xfrm>
            <a:off x="731520" y="4206240"/>
            <a:ext cx="3246120" cy="566928"/>
          </a:xfrm>
          <a:prstGeom prst="rect">
            <a:avLst/>
          </a:prstGeom>
          <a:noFill/>
          <a:ln/>
        </p:spPr>
        <p:txBody>
          <a:bodyPr wrap="square" lIns="0" tIns="0" rIns="0" bIns="0" rtlCol="0" anchor="ctr"/>
          <a:lstStyle/>
          <a:p>
            <a:pPr marL="0" indent="0" algn="ctr">
              <a:buNone/>
            </a:pPr>
            <a:r>
              <a:rPr lang="en-US" sz="2000" b="1" dirty="0">
                <a:solidFill>
                  <a:schemeClr val="bg1"/>
                </a:solidFill>
              </a:rPr>
              <a:t>Team 334Supremacy</a:t>
            </a:r>
            <a:endParaRPr lang="en-US" sz="2000" dirty="0"/>
          </a:p>
        </p:txBody>
      </p:sp>
      <p:sp>
        <p:nvSpPr>
          <p:cNvPr id="7" name="text-340"/>
          <p:cNvSpPr txBox="1"/>
          <p:nvPr/>
        </p:nvSpPr>
        <p:spPr>
          <a:xfrm>
            <a:off x="731520" y="5257800"/>
            <a:ext cx="2743200" cy="274320"/>
          </a:xfrm>
          <a:prstGeom prst="rect">
            <a:avLst/>
          </a:prstGeom>
          <a:noFill/>
          <a:ln/>
        </p:spPr>
        <p:txBody>
          <a:bodyPr wrap="square" lIns="0" tIns="0" rIns="0" bIns="0" rtlCol="0" anchor="ctr"/>
          <a:lstStyle/>
          <a:p>
            <a:pPr marL="0" indent="0">
              <a:buNone/>
            </a:pPr>
            <a:r>
              <a:rPr lang="en-US" sz="1200" b="1" kern="0" spc="400" dirty="0">
                <a:solidFill>
                  <a:schemeClr val="accent2"/>
                </a:solidFill>
              </a:rPr>
              <a:t>NEXT</a:t>
            </a:r>
            <a:endParaRPr lang="en-US" sz="1200" dirty="0"/>
          </a:p>
        </p:txBody>
      </p:sp>
      <p:sp>
        <p:nvSpPr>
          <p:cNvPr id="8" name="text-341"/>
          <p:cNvSpPr txBox="1"/>
          <p:nvPr/>
        </p:nvSpPr>
        <p:spPr>
          <a:xfrm>
            <a:off x="731520" y="5577840"/>
            <a:ext cx="6400800" cy="548640"/>
          </a:xfrm>
          <a:prstGeom prst="rect">
            <a:avLst/>
          </a:prstGeom>
          <a:noFill/>
          <a:ln/>
        </p:spPr>
        <p:txBody>
          <a:bodyPr wrap="square" lIns="0" tIns="0" rIns="0" bIns="0" rtlCol="0" anchor="t"/>
          <a:lstStyle/>
          <a:p>
            <a:pPr marL="0" indent="0">
              <a:buNone/>
            </a:pPr>
            <a:r>
              <a:rPr lang="en-US" sz="1500" dirty="0">
                <a:solidFill>
                  <a:schemeClr val="bg1"/>
                </a:solidFill>
              </a:rPr>
              <a:t>Real bank connection through PSD2  ·  Partner offers at every new tier</a:t>
            </a:r>
            <a:endParaRPr lang="en-US" sz="1500" dirty="0"/>
          </a:p>
        </p:txBody>
      </p:sp>
    </p:spTree>
  </p:cSld>
  <p:clrMapOvr>
    <a:masterClrMapping/>
  </p:clrMapOvr>
</p:sld>
</file>

<file path=ppt/theme/theme1.xml><?xml version="1.0" encoding="utf-8"?>
<a:theme xmlns:a="http://schemas.openxmlformats.org/drawingml/2006/main" name="Life Growth">
  <a:themeElements>
    <a:clrScheme name="Life Growth">
      <a:dk1>
        <a:srgbClr val="0B0714"/>
      </a:dk1>
      <a:lt1>
        <a:srgbClr val="FFFFFF"/>
      </a:lt1>
      <a:dk2>
        <a:srgbClr val="1C1238"/>
      </a:dk2>
      <a:lt2>
        <a:srgbClr val="EDE9FE"/>
      </a:lt2>
      <a:accent1>
        <a:srgbClr val="7C5CFC"/>
      </a:accent1>
      <a:accent2>
        <a:srgbClr val="B7A6FF"/>
      </a:accent2>
      <a:accent3>
        <a:srgbClr val="4B33A8"/>
      </a:accent3>
      <a:accent4>
        <a:srgbClr val="33256C"/>
      </a:accent4>
      <a:accent5>
        <a:srgbClr val="8C7AD9"/>
      </a:accent5>
      <a:accent6>
        <a:srgbClr val="140C2B"/>
      </a:accent6>
      <a:hlink>
        <a:srgbClr val="B7A6FF"/>
      </a:hlink>
      <a:folHlink>
        <a:srgbClr val="8C7AD9"/>
      </a:folHlink>
    </a:clrScheme>
    <a:fontScheme name="Life Growt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1983</Words>
  <Application>Microsoft Office PowerPoint</Application>
  <PresentationFormat>Widescreen</PresentationFormat>
  <Paragraphs>243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Courier New</vt:lpstr>
      <vt:lpstr>Life Growth</vt:lpstr>
      <vt:lpstr>Life Growth</vt:lpstr>
      <vt:lpstr>Retirement is too abstract to save for</vt:lpstr>
      <vt:lpstr>Life Growth: see it, then grow it</vt:lpstr>
      <vt:lpstr>What exists, what's missing, what we do</vt:lpstr>
      <vt:lpstr>Your island is your progress bar</vt:lpstr>
      <vt:lpstr>How it fits together</vt:lpstr>
      <vt:lpstr>Numbers you can trust</vt:lpstr>
      <vt:lpstr>A whole world, drawn in code</vt:lpstr>
      <vt:lpstr>From a coffee to a pension, in one tap</vt:lpstr>
      <vt:lpstr>Who pays, and how we reach users</vt:lpstr>
      <vt:lpstr>Honest by design</vt:lpstr>
      <vt:lpstr>Limits, a fair assessment </vt:lpstr>
      <vt:lpstr>Life Growth</vt:lpstr>
    </vt:vector>
  </TitlesOfParts>
  <Company>334Supremacy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Growth — 334Supremacy</dc:title>
  <dc:subject>PptxGenJS Presentation</dc:subject>
  <dc:creator>Team 334Supremacy</dc:creator>
  <cp:lastModifiedBy>Andreea-Cătălina TONCEA (149139)</cp:lastModifiedBy>
  <cp:revision>7</cp:revision>
  <dcterms:created xsi:type="dcterms:W3CDTF">2026-10-28T20:51:54Z</dcterms:created>
  <dcterms:modified xsi:type="dcterms:W3CDTF">2026-10-28T22:11:31Z</dcterms:modified>
</cp:coreProperties>
</file>